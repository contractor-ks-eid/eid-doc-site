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Default Extension="wdp" ContentType="image/vnd.ms-photo"/>
  <Override PartName="/customXml/item1.xml" ContentType="application/xml"/>
  <Override PartName="/customXml/item2.xml" ContentType="application/xml"/>
  <Override PartName="/customXml/item3.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autoCompressPictures="0">
  <p:sldMasterIdLst>
    <p:sldMasterId id="2147483648" r:id="rId5"/>
    <p:sldMasterId id="2147483779" r:id="rId6"/>
  </p:sldMasterIdLst>
  <p:notesMasterIdLst>
    <p:notesMasterId r:id="rId7"/>
  </p:notesMasterIdLst>
  <p:handoutMasterIdLst>
    <p:handoutMasterId r:id="rId8"/>
  </p:handoutMasterIdLst>
  <p:sldIdLst>
    <p:sldId id="1019" r:id="rId9"/>
    <p:sldId id="291" r:id="rId10"/>
    <p:sldId id="1042" r:id="rId11"/>
    <p:sldId id="286" r:id="rId12"/>
    <p:sldId id="1063" r:id="rId13"/>
    <p:sldId id="1065" r:id="rId14"/>
    <p:sldId id="1064" r:id="rId15"/>
    <p:sldId id="1040" r:id="rId16"/>
    <p:sldId id="1041" r:id="rId17"/>
    <p:sldId id="1034" r:id="rId18"/>
    <p:sldId id="290" r:id="rId19"/>
    <p:sldId id="1038" r:id="rId20"/>
    <p:sldId id="1057" r:id="rId21"/>
    <p:sldId id="1060" r:id="rId22"/>
    <p:sldId id="1061" r:id="rId23"/>
    <p:sldId id="1059" r:id="rId24"/>
    <p:sldId id="1058" r:id="rId25"/>
    <p:sldId id="1035" r:id="rId26"/>
    <p:sldId id="1028" r:id="rId27"/>
    <p:sldId id="1027" r:id="rId28"/>
    <p:sldId id="283" r:id="rId29"/>
    <p:sldId id="1043" r:id="rId30"/>
    <p:sldId id="1056" r:id="rId31"/>
    <p:sldId id="1051" r:id="rId32"/>
    <p:sldId id="1052" r:id="rId33"/>
    <p:sldId id="1053" r:id="rId34"/>
    <p:sldId id="1054" r:id="rId35"/>
    <p:sldId id="1046" r:id="rId36"/>
    <p:sldId id="1062" r:id="rId37"/>
    <p:sldId id="1055" r:id="rId38"/>
    <p:sldId id="302" r:id="rId39"/>
  </p:sldIdLst>
  <p:sldSz cx="12192000" cy="6858000"/>
  <p:notesSz cx="7099300" cy="10234613"/>
  <p:embeddedFontLst>
    <p:embeddedFont>
      <p:font typeface="Bebas Neue" panose="020B0606020202050201" pitchFamily="34" charset="77"/>
      <p:regular r:id="rId41"/>
    </p:embeddedFont>
    <p:embeddedFont>
      <p:font typeface="Montserrat" pitchFamily="2" charset="77"/>
      <p:regular r:id="rId42"/>
      <p:bold r:id="rId43"/>
      <p:italic r:id="rId44"/>
      <p:boldItalic r:id="rId45"/>
    </p:embeddedFont>
    <p:embeddedFont>
      <p:font typeface="Montserrat Light" panose="020F0302020204030204" pitchFamily="34" charset="0"/>
      <p:regular r:id="rId46"/>
      <p:bold r:id="rId47"/>
      <p:italic r:id="rId48"/>
      <p:boldItalic r:id="rId49"/>
    </p:embeddedFont>
    <p:embeddedFont>
      <p:font typeface="Open Sans" panose="020B0606030504020204" pitchFamily="34" charset="0"/>
      <p:regular r:id="rId50"/>
      <p:bold r:id="rId51"/>
      <p:italic r:id="rId52"/>
      <p:boldItalic r:id="rId53"/>
    </p:embeddedFont>
    <p:embeddedFont>
      <p:font typeface="Open Sans SemiBold" panose="020B0606030504020204" pitchFamily="34" charset="0"/>
      <p:regular r:id="rId54"/>
      <p:bold r:id="rId55"/>
      <p:italic r:id="rId56"/>
      <p:boldItalic r:id="rId57"/>
    </p:embeddedFont>
    <p:embeddedFont>
      <p:font typeface="Poppins" pitchFamily="2" charset="77"/>
      <p:regular r:id="rId58"/>
      <p:bold r:id="rId59"/>
      <p:italic r:id="rId60"/>
      <p:boldItalic r:id="rId61"/>
    </p:embeddedFont>
    <p:embeddedFont>
      <p:font typeface="TT Norms Bold" panose="02000803040000020004" pitchFamily="2" charset="77"/>
      <p:bold r:id="rId62"/>
    </p:embeddedFont>
    <p:embeddedFont>
      <p:font typeface="TT Norms Light" panose="02000503020000020003" pitchFamily="2" charset="77"/>
      <p:regular r:id="rId63"/>
    </p:embeddedFont>
    <p:embeddedFont>
      <p:font typeface="TT Norms Regular" panose="02000503030000020003" pitchFamily="2" charset="77"/>
      <p:regular r:id="rId64"/>
    </p:embeddedFont>
  </p:embeddedFontLst>
  <p:custDataLst>
    <p:tags r:id="rId40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48">
          <p15:clr>
            <a:srgbClr val="A4A3A4"/>
          </p15:clr>
        </p15:guide>
        <p15:guide id="2" pos="56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4" roundtripDataSignature="AMtx7miLJDpWANHlImK9r5exZIt3eAm9TQ=="/>
    </p:ext>
  </p:extLst>
</p:presentation>
</file>

<file path=ppt/commentAuthors.xml><?xml version="1.0" encoding="utf-8"?>
<p:cmAuthorLst xmlns:p="http://schemas.openxmlformats.org/presentationml/2006/main">
  <p:cmAuthor id="1" name="Microsoft Office User" initials="MOU" lastIdx="0" clrIdx="0"/>
  <p:cmAuthor id="2" name="Dani Ros" initials="DR" lastIdx="0" clrIdx="1">
    <p:extLst>
      <p:ext uri="{19B8F6BF-5375-455C-9EA6-DF929625EA0E}">
        <p15:presenceInfo xmlns:p15="http://schemas.microsoft.com/office/powerpoint/2012/main" userId="S::dani.ros@validatedid.com::ad10d8ea-945e-491b-abc4-298aece67712" providerId="AD"/>
      </p:ext>
    </p:extLst>
  </p:cmAuthor>
  <p:cmAuthor id="3" name="Fernando Pino" initials="FP" lastIdx="0" clrIdx="2">
    <p:extLst>
      <p:ext uri="{19B8F6BF-5375-455C-9EA6-DF929625EA0E}">
        <p15:presenceInfo xmlns:p15="http://schemas.microsoft.com/office/powerpoint/2012/main" userId="S::fernando.pino@validatedid.com::e29bdfc7-e1b3-41b4-83a4-957532667e94" providerId="AD"/>
      </p:ext>
    </p:extLst>
  </p:cmAuthor>
  <p:cmAuthor id="4" name="Ivan Basart" initials="IB" lastIdx="0" clrIdx="3">
    <p:extLst>
      <p:ext uri="{19B8F6BF-5375-455C-9EA6-DF929625EA0E}">
        <p15:presenceInfo xmlns:p15="http://schemas.microsoft.com/office/powerpoint/2012/main" userId="S::ivan@validatedid.com::cf8c99d1-60cc-4493-8b4f-e5944e92fd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FFBD"/>
    <a:srgbClr val="4251FB"/>
    <a:srgbClr val="CED1FE"/>
    <a:srgbClr val="ECEDFF"/>
    <a:srgbClr val="E0EAFD"/>
    <a:srgbClr val="4299FB"/>
    <a:srgbClr val="001F5F"/>
    <a:srgbClr val="DDFFDC"/>
    <a:srgbClr val="EEFFEA"/>
    <a:srgbClr val="D2E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C26593-EF8E-4B4E-8B2E-49A78B3961DA}" v="1" dt="2024-05-06T07:09:02.637"/>
  </p1510:revLst>
</p1510:revInfo>
</file>

<file path=ppt/tableStyles.xml><?xml version="1.0" encoding="utf-8"?>
<a:tblStyleLst xmlns:r="http://schemas.openxmlformats.org/officeDocument/2006/relationships" xmlns:a="http://schemas.openxmlformats.org/drawingml/2006/main" def="{F2C3EBE3-F71C-4AA2-A4E7-0D1F372B86D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/>
    <p:restoredTop sz="77279"/>
  </p:normalViewPr>
  <p:slideViewPr>
    <p:cSldViewPr snapToGrid="0">
      <p:cViewPr>
        <p:scale>
          <a:sx n="76" d="100"/>
          <a:sy n="76" d="100"/>
        </p:scale>
        <p:origin x="2400" y="656"/>
      </p:cViewPr>
      <p:guideLst>
        <p:guide orient="horz" pos="2948"/>
        <p:guide pos="56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ustomXml" Target="../customXml/item1.xml" /><Relationship Id="rId10" Type="http://schemas.openxmlformats.org/officeDocument/2006/relationships/slide" Target="slides/slide2.xml" /><Relationship Id="rId11" Type="http://schemas.openxmlformats.org/officeDocument/2006/relationships/slide" Target="slides/slide3.xml" /><Relationship Id="rId12" Type="http://schemas.openxmlformats.org/officeDocument/2006/relationships/slide" Target="slides/slide4.xml" /><Relationship Id="rId13" Type="http://schemas.openxmlformats.org/officeDocument/2006/relationships/slide" Target="slides/slide5.xml" /><Relationship Id="rId14" Type="http://schemas.openxmlformats.org/officeDocument/2006/relationships/slide" Target="slides/slide6.xml" /><Relationship Id="rId15" Type="http://schemas.openxmlformats.org/officeDocument/2006/relationships/slide" Target="slides/slide7.xml" /><Relationship Id="rId16" Type="http://schemas.openxmlformats.org/officeDocument/2006/relationships/slide" Target="slides/slide8.xml" /><Relationship Id="rId17" Type="http://schemas.openxmlformats.org/officeDocument/2006/relationships/slide" Target="slides/slide9.xml" /><Relationship Id="rId18" Type="http://schemas.openxmlformats.org/officeDocument/2006/relationships/slide" Target="slides/slide10.xml" /><Relationship Id="rId19" Type="http://schemas.openxmlformats.org/officeDocument/2006/relationships/slide" Target="slides/slide11.xml" /><Relationship Id="rId2" Type="http://schemas.openxmlformats.org/officeDocument/2006/relationships/customXml" Target="../customXml/item2.xml" /><Relationship Id="rId20" Type="http://schemas.openxmlformats.org/officeDocument/2006/relationships/slide" Target="slides/slide12.xml" /><Relationship Id="rId21" Type="http://schemas.openxmlformats.org/officeDocument/2006/relationships/slide" Target="slides/slide13.xml" /><Relationship Id="rId22" Type="http://schemas.openxmlformats.org/officeDocument/2006/relationships/slide" Target="slides/slide14.xml" /><Relationship Id="rId23" Type="http://schemas.openxmlformats.org/officeDocument/2006/relationships/slide" Target="slides/slide15.xml" /><Relationship Id="rId24" Type="http://schemas.openxmlformats.org/officeDocument/2006/relationships/slide" Target="slides/slide16.xml" /><Relationship Id="rId25" Type="http://schemas.openxmlformats.org/officeDocument/2006/relationships/slide" Target="slides/slide17.xml" /><Relationship Id="rId26" Type="http://schemas.openxmlformats.org/officeDocument/2006/relationships/slide" Target="slides/slide18.xml" /><Relationship Id="rId27" Type="http://schemas.openxmlformats.org/officeDocument/2006/relationships/slide" Target="slides/slide19.xml" /><Relationship Id="rId28" Type="http://schemas.openxmlformats.org/officeDocument/2006/relationships/slide" Target="slides/slide20.xml" /><Relationship Id="rId29" Type="http://schemas.openxmlformats.org/officeDocument/2006/relationships/slide" Target="slides/slide21.xml" /><Relationship Id="rId3" Type="http://schemas.openxmlformats.org/officeDocument/2006/relationships/customXml" Target="../customXml/item3.xml" /><Relationship Id="rId30" Type="http://schemas.openxmlformats.org/officeDocument/2006/relationships/slide" Target="slides/slide22.xml" /><Relationship Id="rId31" Type="http://schemas.openxmlformats.org/officeDocument/2006/relationships/slide" Target="slides/slide23.xml" /><Relationship Id="rId32" Type="http://schemas.openxmlformats.org/officeDocument/2006/relationships/slide" Target="slides/slide24.xml" /><Relationship Id="rId33" Type="http://schemas.openxmlformats.org/officeDocument/2006/relationships/slide" Target="slides/slide25.xml" /><Relationship Id="rId34" Type="http://schemas.openxmlformats.org/officeDocument/2006/relationships/slide" Target="slides/slide26.xml" /><Relationship Id="rId35" Type="http://schemas.openxmlformats.org/officeDocument/2006/relationships/slide" Target="slides/slide27.xml" /><Relationship Id="rId36" Type="http://schemas.openxmlformats.org/officeDocument/2006/relationships/slide" Target="slides/slide28.xml" /><Relationship Id="rId37" Type="http://schemas.openxmlformats.org/officeDocument/2006/relationships/slide" Target="slides/slide29.xml" /><Relationship Id="rId38" Type="http://schemas.openxmlformats.org/officeDocument/2006/relationships/slide" Target="slides/slide30.xml" /><Relationship Id="rId39" Type="http://schemas.openxmlformats.org/officeDocument/2006/relationships/slide" Target="slides/slide31.xml" /><Relationship Id="rId4" Type="http://schemas.openxmlformats.org/officeDocument/2006/relationships/commentAuthors" Target="commentAuthors.xml" /><Relationship Id="rId40" Type="http://schemas.openxmlformats.org/officeDocument/2006/relationships/tags" Target="tags/tag1.xml" /><Relationship Id="rId41" Type="http://schemas.openxmlformats.org/officeDocument/2006/relationships/font" Target="fonts/font1.fntdata" /><Relationship Id="rId42" Type="http://schemas.openxmlformats.org/officeDocument/2006/relationships/font" Target="fonts/font2.fntdata" /><Relationship Id="rId43" Type="http://schemas.openxmlformats.org/officeDocument/2006/relationships/font" Target="fonts/font3.fntdata" /><Relationship Id="rId44" Type="http://schemas.openxmlformats.org/officeDocument/2006/relationships/font" Target="fonts/font4.fntdata" /><Relationship Id="rId45" Type="http://schemas.openxmlformats.org/officeDocument/2006/relationships/font" Target="fonts/font5.fntdata" /><Relationship Id="rId46" Type="http://schemas.openxmlformats.org/officeDocument/2006/relationships/font" Target="fonts/font6.fntdata" /><Relationship Id="rId47" Type="http://schemas.openxmlformats.org/officeDocument/2006/relationships/font" Target="fonts/font7.fntdata" /><Relationship Id="rId48" Type="http://schemas.openxmlformats.org/officeDocument/2006/relationships/font" Target="fonts/font8.fntdata" /><Relationship Id="rId49" Type="http://schemas.openxmlformats.org/officeDocument/2006/relationships/font" Target="fonts/font9.fntdata" /><Relationship Id="rId5" Type="http://schemas.openxmlformats.org/officeDocument/2006/relationships/slideMaster" Target="slideMasters/slideMaster1.xml" /><Relationship Id="rId50" Type="http://schemas.openxmlformats.org/officeDocument/2006/relationships/font" Target="fonts/font10.fntdata" /><Relationship Id="rId51" Type="http://schemas.openxmlformats.org/officeDocument/2006/relationships/font" Target="fonts/font11.fntdata" /><Relationship Id="rId52" Type="http://schemas.openxmlformats.org/officeDocument/2006/relationships/font" Target="fonts/font12.fntdata" /><Relationship Id="rId53" Type="http://schemas.openxmlformats.org/officeDocument/2006/relationships/font" Target="fonts/font13.fntdata" /><Relationship Id="rId54" Type="http://schemas.openxmlformats.org/officeDocument/2006/relationships/font" Target="fonts/font14.fntdata" /><Relationship Id="rId55" Type="http://schemas.openxmlformats.org/officeDocument/2006/relationships/font" Target="fonts/font15.fntdata" /><Relationship Id="rId56" Type="http://schemas.openxmlformats.org/officeDocument/2006/relationships/font" Target="fonts/font16.fntdata" /><Relationship Id="rId57" Type="http://schemas.openxmlformats.org/officeDocument/2006/relationships/font" Target="fonts/font17.fntdata" /><Relationship Id="rId58" Type="http://schemas.openxmlformats.org/officeDocument/2006/relationships/font" Target="fonts/font18.fntdata" /><Relationship Id="rId59" Type="http://schemas.openxmlformats.org/officeDocument/2006/relationships/font" Target="fonts/font19.fntdata" /><Relationship Id="rId6" Type="http://schemas.openxmlformats.org/officeDocument/2006/relationships/slideMaster" Target="slideMasters/slideMaster2.xml" /><Relationship Id="rId60" Type="http://schemas.openxmlformats.org/officeDocument/2006/relationships/font" Target="fonts/font20.fntdata" /><Relationship Id="rId61" Type="http://schemas.openxmlformats.org/officeDocument/2006/relationships/font" Target="fonts/font21.fntdata" /><Relationship Id="rId62" Type="http://schemas.openxmlformats.org/officeDocument/2006/relationships/font" Target="fonts/font22.fntdata" /><Relationship Id="rId63" Type="http://schemas.openxmlformats.org/officeDocument/2006/relationships/font" Target="fonts/font23.fntdata" /><Relationship Id="rId64" Type="http://schemas.openxmlformats.org/officeDocument/2006/relationships/font" Target="fonts/font24.fntdata" /><Relationship Id="rId65" Type="http://schemas.openxmlformats.org/officeDocument/2006/relationships/presProps" Target="presProps.xml" /><Relationship Id="rId66" Type="http://schemas.openxmlformats.org/officeDocument/2006/relationships/viewProps" Target="viewProps.xml" /><Relationship Id="rId67" Type="http://schemas.openxmlformats.org/officeDocument/2006/relationships/theme" Target="theme/theme1.xml" /><Relationship Id="rId68" Type="http://schemas.openxmlformats.org/officeDocument/2006/relationships/tableStyles" Target="tableStyles.xml" /><Relationship Id="rId7" Type="http://schemas.openxmlformats.org/officeDocument/2006/relationships/notesMaster" Target="notesMasters/notesMaster1.xml" /><Relationship Id="rId8" Type="http://schemas.openxmlformats.org/officeDocument/2006/relationships/handoutMaster" Target="handoutMasters/handoutMaster1.xml" /><Relationship Id="rId84" Type="http://customschemas.google.com/relationships/presentationmetadata" Target="metadata" /><Relationship Id="rId9" Type="http://schemas.openxmlformats.org/officeDocument/2006/relationships/slide" Target="slides/slide1.xml" /><Relationship Id="rId90" Type="http://schemas.microsoft.com/office/2016/11/relationships/changesInfo" Target="changesInfos/changesInfo1.xml" /><Relationship Id="rId91" Type="http://schemas.microsoft.com/office/2015/10/relationships/revisionInfo" Target="revisionInfo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Abraham" userId="14ceaaaf-2fbe-4df9-9258-544022937cc8" providerId="ADAL" clId="{BCC26593-EF8E-4B4E-8B2E-49A78B3961DA}"/>
    <pc:docChg chg="addSld modSld">
      <pc:chgData name="Andreas Abraham" userId="14ceaaaf-2fbe-4df9-9258-544022937cc8" providerId="ADAL" clId="{BCC26593-EF8E-4B4E-8B2E-49A78B3961DA}" dt="2024-05-06T07:09:02.633" v="0"/>
      <pc:docMkLst>
        <pc:docMk/>
      </pc:docMkLst>
      <pc:sldChg chg="add">
        <pc:chgData name="Andreas Abraham" userId="14ceaaaf-2fbe-4df9-9258-544022937cc8" providerId="ADAL" clId="{BCC26593-EF8E-4B4E-8B2E-49A78B3961DA}" dt="2024-05-06T07:09:02.633" v="0"/>
        <pc:sldMkLst>
          <pc:docMk/>
          <pc:sldMk cId="3770197218" sldId="1038"/>
        </pc:sldMkLst>
      </pc:sldChg>
    </pc:docChg>
  </pc:docChgLst>
</pc:chgInfo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826F7EB-D987-824F-9371-9AFA50167D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6B191C-ECD9-CCA3-EC6E-035725535A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EE7A1-FA84-4E18-8EA3-B2DF0297121A}" type="datetimeFigureOut">
              <a:rPr lang="es-ES" smtClean="0"/>
              <a:t>10/5/24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41739C-7DA1-2757-CD53-C7F998A212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21DDF8-DF84-13C6-D769-5D0677F36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C7B3A-BB7F-458D-8F53-8EAAE2566B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7510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0030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4108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521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5046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err="1"/>
              <a:t>Asymmetric cryptography - basics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9771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err="1"/>
              <a:t>Asymmetric cryptography - basics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2591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2772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2767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839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Issue dummy credential via email</a:t>
            </a:r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0897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9277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2726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5640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5157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327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729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0116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ct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5" name="Google Shape;21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5886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s-E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s-E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3719817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matchingName="Title Slide">
  <p:cSld name="Validated_blanco_nopag">
    <p:spTree>
      <p:nvGrpSpPr>
        <p:cNvPr id="1" name="Shape 12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C43780-3133-0262-C015-F3BD0842F1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5016501" cy="6858000"/>
          </a:xfrm>
          <a:custGeom>
            <a:gdLst>
              <a:gd name="connsiteX0" fmla="*/ 0 w 5016501"/>
              <a:gd name="connsiteY0" fmla="*/ 0 h 6858000"/>
              <a:gd name="connsiteX1" fmla="*/ 5016501 w 5016501"/>
              <a:gd name="connsiteY1" fmla="*/ 0 h 6858000"/>
              <a:gd name="connsiteX2" fmla="*/ 5016501 w 5016501"/>
              <a:gd name="connsiteY2" fmla="*/ 6858000 h 6858000"/>
              <a:gd name="connsiteX3" fmla="*/ 0 w 5016501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1" h="6858000">
                <a:moveTo>
                  <a:pt x="0" y="0"/>
                </a:moveTo>
                <a:lnTo>
                  <a:pt x="5016501" y="0"/>
                </a:lnTo>
                <a:lnTo>
                  <a:pt x="501650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38801692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F5F528A-9B8D-4F9D-7C3B-B54DA47F1C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00902" y="4313033"/>
            <a:ext cx="4991099" cy="2544969"/>
          </a:xfrm>
          <a:custGeom>
            <a:gdLst>
              <a:gd name="connsiteX0" fmla="*/ 0 w 4991099"/>
              <a:gd name="connsiteY0" fmla="*/ 0 h 2544969"/>
              <a:gd name="connsiteX1" fmla="*/ 4991099 w 4991099"/>
              <a:gd name="connsiteY1" fmla="*/ 0 h 2544969"/>
              <a:gd name="connsiteX2" fmla="*/ 4991099 w 4991099"/>
              <a:gd name="connsiteY2" fmla="*/ 2544969 h 2544969"/>
              <a:gd name="connsiteX3" fmla="*/ 0 w 4991099"/>
              <a:gd name="connsiteY3" fmla="*/ 2544969 h 2544969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099" h="2544969">
                <a:moveTo>
                  <a:pt x="0" y="0"/>
                </a:moveTo>
                <a:lnTo>
                  <a:pt x="4991099" y="0"/>
                </a:lnTo>
                <a:lnTo>
                  <a:pt x="4991099" y="2544969"/>
                </a:lnTo>
                <a:lnTo>
                  <a:pt x="0" y="254496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FA551A0-F9FE-8CA3-3B78-89796D2D7B6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5429" y="1108098"/>
            <a:ext cx="6765472" cy="3204935"/>
          </a:xfrm>
          <a:custGeom>
            <a:gdLst>
              <a:gd name="connsiteX0" fmla="*/ 0 w 6765472"/>
              <a:gd name="connsiteY0" fmla="*/ 0 h 3204935"/>
              <a:gd name="connsiteX1" fmla="*/ 6765472 w 6765472"/>
              <a:gd name="connsiteY1" fmla="*/ 0 h 3204935"/>
              <a:gd name="connsiteX2" fmla="*/ 6765472 w 6765472"/>
              <a:gd name="connsiteY2" fmla="*/ 3204935 h 3204935"/>
              <a:gd name="connsiteX3" fmla="*/ 0 w 6765472"/>
              <a:gd name="connsiteY3" fmla="*/ 3204935 h 320493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5472" h="3204935">
                <a:moveTo>
                  <a:pt x="0" y="0"/>
                </a:moveTo>
                <a:lnTo>
                  <a:pt x="6765472" y="0"/>
                </a:lnTo>
                <a:lnTo>
                  <a:pt x="6765472" y="3204935"/>
                </a:lnTo>
                <a:lnTo>
                  <a:pt x="0" y="320493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547033070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17BB82-29F6-5734-66E2-1A673BDDFA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5228" y="1228725"/>
            <a:ext cx="2908522" cy="3390712"/>
          </a:xfrm>
          <a:custGeom>
            <a:gdLst>
              <a:gd name="connsiteX0" fmla="*/ 0 w 2908522"/>
              <a:gd name="connsiteY0" fmla="*/ 0 h 3390712"/>
              <a:gd name="connsiteX1" fmla="*/ 2908522 w 2908522"/>
              <a:gd name="connsiteY1" fmla="*/ 0 h 3390712"/>
              <a:gd name="connsiteX2" fmla="*/ 2908522 w 2908522"/>
              <a:gd name="connsiteY2" fmla="*/ 3390712 h 3390712"/>
              <a:gd name="connsiteX3" fmla="*/ 0 w 2908522"/>
              <a:gd name="connsiteY3" fmla="*/ 3390712 h 33907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8522" h="3390712">
                <a:moveTo>
                  <a:pt x="0" y="0"/>
                </a:moveTo>
                <a:lnTo>
                  <a:pt x="2908522" y="0"/>
                </a:lnTo>
                <a:lnTo>
                  <a:pt x="2908522" y="3390712"/>
                </a:lnTo>
                <a:lnTo>
                  <a:pt x="0" y="339071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A4456F1-ED53-7840-59B1-47BEAD30E5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549428" y="3136916"/>
            <a:ext cx="2908522" cy="3276584"/>
          </a:xfrm>
          <a:custGeom>
            <a:gdLst>
              <a:gd name="connsiteX0" fmla="*/ 0 w 2908522"/>
              <a:gd name="connsiteY0" fmla="*/ 0 h 3276584"/>
              <a:gd name="connsiteX1" fmla="*/ 2908522 w 2908522"/>
              <a:gd name="connsiteY1" fmla="*/ 0 h 3276584"/>
              <a:gd name="connsiteX2" fmla="*/ 2908522 w 2908522"/>
              <a:gd name="connsiteY2" fmla="*/ 3276584 h 3276584"/>
              <a:gd name="connsiteX3" fmla="*/ 0 w 2908522"/>
              <a:gd name="connsiteY3" fmla="*/ 3276584 h 327658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8522" h="3276584">
                <a:moveTo>
                  <a:pt x="0" y="0"/>
                </a:moveTo>
                <a:lnTo>
                  <a:pt x="2908522" y="0"/>
                </a:lnTo>
                <a:lnTo>
                  <a:pt x="2908522" y="3276584"/>
                </a:lnTo>
                <a:lnTo>
                  <a:pt x="0" y="327658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468680938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DC86212-3997-9886-2087-89926ABE74F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96977" y="2082800"/>
            <a:ext cx="2119086" cy="1973943"/>
          </a:xfrm>
          <a:custGeom>
            <a:gdLst>
              <a:gd name="connsiteX0" fmla="*/ 0 w 2119086"/>
              <a:gd name="connsiteY0" fmla="*/ 0 h 1973943"/>
              <a:gd name="connsiteX1" fmla="*/ 2119086 w 2119086"/>
              <a:gd name="connsiteY1" fmla="*/ 0 h 1973943"/>
              <a:gd name="connsiteX2" fmla="*/ 2119086 w 2119086"/>
              <a:gd name="connsiteY2" fmla="*/ 1973943 h 1973943"/>
              <a:gd name="connsiteX3" fmla="*/ 0 w 2119086"/>
              <a:gd name="connsiteY3" fmla="*/ 1973943 h 197394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9086" h="1973943">
                <a:moveTo>
                  <a:pt x="0" y="0"/>
                </a:moveTo>
                <a:lnTo>
                  <a:pt x="2119086" y="0"/>
                </a:lnTo>
                <a:lnTo>
                  <a:pt x="2119086" y="1973943"/>
                </a:lnTo>
                <a:lnTo>
                  <a:pt x="0" y="197394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7EC078-7CCD-04DD-41A2-A7416053ED5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93534" y="2082800"/>
            <a:ext cx="2119086" cy="1973943"/>
          </a:xfrm>
          <a:custGeom>
            <a:gdLst>
              <a:gd name="connsiteX0" fmla="*/ 0 w 2119086"/>
              <a:gd name="connsiteY0" fmla="*/ 0 h 1973943"/>
              <a:gd name="connsiteX1" fmla="*/ 2119086 w 2119086"/>
              <a:gd name="connsiteY1" fmla="*/ 0 h 1973943"/>
              <a:gd name="connsiteX2" fmla="*/ 2119086 w 2119086"/>
              <a:gd name="connsiteY2" fmla="*/ 1973943 h 1973943"/>
              <a:gd name="connsiteX3" fmla="*/ 0 w 2119086"/>
              <a:gd name="connsiteY3" fmla="*/ 1973943 h 197394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9086" h="1973943">
                <a:moveTo>
                  <a:pt x="0" y="0"/>
                </a:moveTo>
                <a:lnTo>
                  <a:pt x="2119086" y="0"/>
                </a:lnTo>
                <a:lnTo>
                  <a:pt x="2119086" y="1973943"/>
                </a:lnTo>
                <a:lnTo>
                  <a:pt x="0" y="197394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879E02A-F62C-F8BF-21BB-B3791D2D55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628414" y="2082800"/>
            <a:ext cx="2119086" cy="1973943"/>
          </a:xfrm>
          <a:custGeom>
            <a:gdLst>
              <a:gd name="connsiteX0" fmla="*/ 0 w 2119086"/>
              <a:gd name="connsiteY0" fmla="*/ 0 h 1973943"/>
              <a:gd name="connsiteX1" fmla="*/ 2119086 w 2119086"/>
              <a:gd name="connsiteY1" fmla="*/ 0 h 1973943"/>
              <a:gd name="connsiteX2" fmla="*/ 2119086 w 2119086"/>
              <a:gd name="connsiteY2" fmla="*/ 1973943 h 1973943"/>
              <a:gd name="connsiteX3" fmla="*/ 0 w 2119086"/>
              <a:gd name="connsiteY3" fmla="*/ 1973943 h 197394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9086" h="1973943">
                <a:moveTo>
                  <a:pt x="0" y="0"/>
                </a:moveTo>
                <a:lnTo>
                  <a:pt x="2119086" y="0"/>
                </a:lnTo>
                <a:lnTo>
                  <a:pt x="2119086" y="1973943"/>
                </a:lnTo>
                <a:lnTo>
                  <a:pt x="0" y="197394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53017393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0A5C00F-6E20-7B21-9655-C70AFBDD027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5472" y="2857518"/>
            <a:ext cx="6480628" cy="3555983"/>
          </a:xfrm>
          <a:custGeom>
            <a:gdLst>
              <a:gd name="connsiteX0" fmla="*/ 0 w 6480628"/>
              <a:gd name="connsiteY0" fmla="*/ 0 h 3555983"/>
              <a:gd name="connsiteX1" fmla="*/ 6480628 w 6480628"/>
              <a:gd name="connsiteY1" fmla="*/ 0 h 3555983"/>
              <a:gd name="connsiteX2" fmla="*/ 6480628 w 6480628"/>
              <a:gd name="connsiteY2" fmla="*/ 3555983 h 3555983"/>
              <a:gd name="connsiteX3" fmla="*/ 0 w 6480628"/>
              <a:gd name="connsiteY3" fmla="*/ 3555983 h 355598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0628" h="3555982">
                <a:moveTo>
                  <a:pt x="0" y="0"/>
                </a:moveTo>
                <a:lnTo>
                  <a:pt x="6480628" y="0"/>
                </a:lnTo>
                <a:lnTo>
                  <a:pt x="6480628" y="3555983"/>
                </a:lnTo>
                <a:lnTo>
                  <a:pt x="0" y="355598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55835966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16C32ED-B926-27D5-43B5-4E1ED6B98AE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606626264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userDrawn="1">
  <p:cSld name="14_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C953538-14D8-BD41-C55C-C53095334E5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82" y="3695700"/>
            <a:ext cx="12192000" cy="3162300"/>
          </a:xfrm>
          <a:custGeom>
            <a:gdLst>
              <a:gd name="connsiteX0" fmla="*/ 0 w 12192000"/>
              <a:gd name="connsiteY0" fmla="*/ 0 h 3162300"/>
              <a:gd name="connsiteX1" fmla="*/ 12192000 w 12192000"/>
              <a:gd name="connsiteY1" fmla="*/ 0 h 3162300"/>
              <a:gd name="connsiteX2" fmla="*/ 12192000 w 12192000"/>
              <a:gd name="connsiteY2" fmla="*/ 3162300 h 3162300"/>
              <a:gd name="connsiteX3" fmla="*/ 0 w 12192000"/>
              <a:gd name="connsiteY3" fmla="*/ 3162300 h 31623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162300">
                <a:moveTo>
                  <a:pt x="0" y="0"/>
                </a:moveTo>
                <a:lnTo>
                  <a:pt x="12192000" y="0"/>
                </a:lnTo>
                <a:lnTo>
                  <a:pt x="12192000" y="3162300"/>
                </a:lnTo>
                <a:lnTo>
                  <a:pt x="0" y="31623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681870734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image" Target="../media/image1.png" /><Relationship Id="rId9" Type="http://schemas.openxmlformats.org/officeDocument/2006/relationships/image" Target="../media/image2.jpeg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3" name="TextBox 21">
            <a:extLst>
              <a:ext uri="{FF2B5EF4-FFF2-40B4-BE49-F238E27FC236}">
                <a16:creationId xmlns:a16="http://schemas.microsoft.com/office/drawing/2014/main" id="{3BCD194D-094B-EB1A-50DA-C57A02BA3E37}"/>
              </a:ext>
            </a:extLst>
          </p:cNvPr>
          <p:cNvSpPr txBox="1"/>
          <p:nvPr userDrawn="1"/>
        </p:nvSpPr>
        <p:spPr>
          <a:xfrm>
            <a:off x="5415481" y="116628"/>
            <a:ext cx="1192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latin typeface="TT Norms Regular" panose="02000503030000020003" pitchFamily="2" charset="77"/>
              </a:rPr>
              <a:t>KosovoWallet</a:t>
            </a:r>
            <a:endParaRPr lang="en-US" sz="1000">
              <a:latin typeface="TT Norms Regular" panose="02000503030000020003" pitchFamily="2" charset="77"/>
            </a:endParaRPr>
          </a:p>
        </p:txBody>
      </p:sp>
      <p:pic>
        <p:nvPicPr>
          <p:cNvPr id="2050" name="Picture 2" descr="Kosovo State Amblem Logo ,Logo , icon , SVG Kosovo State Amblem Logo">
            <a:extLst>
              <a:ext uri="{FF2B5EF4-FFF2-40B4-BE49-F238E27FC236}">
                <a16:creationId xmlns:a16="http://schemas.microsoft.com/office/drawing/2014/main" id="{E230E6B9-3DBF-530C-D620-E7482BA5E4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63728" y="114822"/>
            <a:ext cx="595901" cy="59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5F506E3-0FF3-52A2-3942-8F3C379C0F8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15472" y="343108"/>
            <a:ext cx="1109272" cy="329784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858" r:id="rId2"/>
    <p:sldLayoutId id="2147483859" r:id="rId3"/>
    <p:sldLayoutId id="2147483860" r:id="rId4"/>
    <p:sldLayoutId id="2147483861" r:id="rId5"/>
    <p:sldLayoutId id="2147483864" r:id="rId6"/>
    <p:sldLayoutId id="2147483865" r:id="rId7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576">
          <p15:clr>
            <a:srgbClr val="F26B43"/>
          </p15:clr>
        </p15:guide>
        <p15:guide id="3" pos="1872">
          <p15:clr>
            <a:srgbClr val="F26B43"/>
          </p15:clr>
        </p15:guide>
        <p15:guide id="4" pos="3192">
          <p15:clr>
            <a:srgbClr val="F26B43"/>
          </p15:clr>
        </p15:guide>
        <p15:guide id="5" pos="4488">
          <p15:clr>
            <a:srgbClr val="F26B43"/>
          </p15:clr>
        </p15:guide>
        <p15:guide id="6" pos="5808">
          <p15:clr>
            <a:srgbClr val="F26B43"/>
          </p15:clr>
        </p15:guide>
        <p15:guide id="7" pos="7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7362284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63" r:id="rId1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image" Target="../media/image3.jpeg" /><Relationship Id="rId3" Type="http://schemas.openxmlformats.org/officeDocument/2006/relationships/image" Target="../media/image2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4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6.jpeg" /><Relationship Id="rId3" Type="http://schemas.openxmlformats.org/officeDocument/2006/relationships/image" Target="../media/image2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7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2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8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9.jpe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0.jpeg" /><Relationship Id="rId4" Type="http://schemas.openxmlformats.org/officeDocument/2006/relationships/image" Target="../media/image11.jpe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jpe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jpe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4.jpeg" /><Relationship Id="rId4" Type="http://schemas.openxmlformats.org/officeDocument/2006/relationships/image" Target="../media/image15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microsoft.com/office/2007/relationships/hdphoto" Target="../media/image19.wdp" /><Relationship Id="rId8" Type="http://schemas.microsoft.com/office/2007/relationships/hdphoto" Target="../media/image20.wdp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21.jpe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2.jpe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3.jpe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2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5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jpe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Relationship Id="rId3" Type="http://schemas.openxmlformats.org/officeDocument/2006/relationships/hyperlink" Target="mailto:mauro.lucchini@validatedid.com" TargetMode="External" /><Relationship Id="rId4" Type="http://schemas.openxmlformats.org/officeDocument/2006/relationships/image" Target="../media/image24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25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26.jpe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3.xml" /><Relationship Id="rId3" Type="http://schemas.openxmlformats.org/officeDocument/2006/relationships/hyperlink" Target="https://staging.vidchain.net/oauth2/auth" TargetMode="Externa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4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5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27.png" /><Relationship Id="rId4" Type="http://schemas.openxmlformats.org/officeDocument/2006/relationships/image" Target="../media/image28.png" /><Relationship Id="rId5" Type="http://schemas.openxmlformats.org/officeDocument/2006/relationships/image" Target="../media/image29.jpeg" /><Relationship Id="rId6" Type="http://schemas.openxmlformats.org/officeDocument/2006/relationships/image" Target="../media/image30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31.jpe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27.png" /><Relationship Id="rId4" Type="http://schemas.openxmlformats.org/officeDocument/2006/relationships/image" Target="../media/image28.png" /><Relationship Id="rId5" Type="http://schemas.openxmlformats.org/officeDocument/2006/relationships/image" Target="../media/image30.png" /><Relationship Id="rId6" Type="http://schemas.openxmlformats.org/officeDocument/2006/relationships/hyperlink" Target="https://github.com/validatedid/kosovo-universal-verifier" TargetMode="External" /><Relationship Id="rId7" Type="http://schemas.openxmlformats.org/officeDocument/2006/relationships/hyperlink" Target="https://github.com/validatedid/kosovo-training-java" TargetMode="External" /><Relationship Id="rId8" Type="http://schemas.openxmlformats.org/officeDocument/2006/relationships/hyperlink" Target="https://github.com/validatedid/kosovo-training-csharp" TargetMode="External" /><Relationship Id="rId9" Type="http://schemas.openxmlformats.org/officeDocument/2006/relationships/image" Target="../media/image32.jpe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3.jpeg" /><Relationship Id="rId4" Type="http://schemas.openxmlformats.org/officeDocument/2006/relationships/image" Target="../media/image2.jpe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ADE2990-348B-800F-B21D-2A708CF25E64}"/>
              </a:ext>
            </a:extLst>
          </p:cNvPr>
          <p:cNvCxnSpPr/>
          <p:nvPr/>
        </p:nvCxnSpPr>
        <p:spPr>
          <a:xfrm>
            <a:off x="415472" y="1577174"/>
            <a:ext cx="727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Marcador de posición de imagen 11" descr="Una caricatura de una persona&#10;&#10;Descripción generada automáticamente con confianza media">
            <a:extLst>
              <a:ext uri="{FF2B5EF4-FFF2-40B4-BE49-F238E27FC236}">
                <a16:creationId xmlns:a16="http://schemas.microsoft.com/office/drawing/2014/main" id="{97A00DF7-6609-0265-C858-9F2EE3B3B09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26" r="2426"/>
          <a:stretch>
            <a:fillRect/>
          </a:stretch>
        </p:blipFill>
        <p:spPr>
          <a:xfrm>
            <a:off x="415925" y="2640679"/>
            <a:ext cx="6759575" cy="37093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EC22D08-3ACF-5AE0-CA0F-52BCC9771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72" y="343108"/>
            <a:ext cx="1109272" cy="329784"/>
          </a:xfrm>
          <a:prstGeom prst="rect">
            <a:avLst/>
          </a:prstGeom>
        </p:spPr>
      </p:pic>
      <p:sp>
        <p:nvSpPr>
          <p:cNvPr id="3" name="Title 14">
            <a:extLst>
              <a:ext uri="{FF2B5EF4-FFF2-40B4-BE49-F238E27FC236}">
                <a16:creationId xmlns:a16="http://schemas.microsoft.com/office/drawing/2014/main" id="{4719527E-BE40-ADD5-95DF-E53933E122F1}"/>
              </a:ext>
            </a:extLst>
          </p:cNvPr>
          <p:cNvSpPr txBox="1"/>
          <p:nvPr/>
        </p:nvSpPr>
        <p:spPr>
          <a:xfrm>
            <a:off x="1224588" y="1042966"/>
            <a:ext cx="10754052" cy="111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>
                <a:latin typeface="TT Norms Regular" panose="02000503030000020003" pitchFamily="2" charset="77"/>
                <a:cs typeface="Poppins SemiBold" panose="00000700000000000000" pitchFamily="50" charset="0"/>
              </a:rPr>
              <a:t>Integrating KosovoWallet</a:t>
            </a:r>
            <a:endParaRPr lang="en-US" sz="6000">
              <a:latin typeface="TT Norms Regular" panose="02000503030000020003" pitchFamily="2" charset="77"/>
              <a:cs typeface="Poppins SemiBold" panose="00000700000000000000" pitchFamily="50" charset="0"/>
            </a:endParaRPr>
          </a:p>
        </p:txBody>
      </p:sp>
      <p:sp>
        <p:nvSpPr>
          <p:cNvPr id="4" name="TextBox 36">
            <a:extLst>
              <a:ext uri="{FF2B5EF4-FFF2-40B4-BE49-F238E27FC236}">
                <a16:creationId xmlns:a16="http://schemas.microsoft.com/office/drawing/2014/main" id="{FB89B643-48CC-D06E-47F3-55BB80933E3B}"/>
              </a:ext>
            </a:extLst>
          </p:cNvPr>
          <p:cNvSpPr txBox="1"/>
          <p:nvPr/>
        </p:nvSpPr>
        <p:spPr>
          <a:xfrm>
            <a:off x="7661647" y="2665033"/>
            <a:ext cx="41884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 u="none" strike="noStrike" cap="none">
                <a:solidFill>
                  <a:schemeClr val="tx1"/>
                </a:solidFill>
                <a:latin typeface="TT Norms Bold" panose="02000503030000020003" pitchFamily="2" charset="77"/>
              </a:rPr>
              <a:t>Developer</a:t>
            </a:r>
            <a:r>
              <a:rPr lang="en-US" sz="3200" b="1">
                <a:solidFill>
                  <a:schemeClr val="tx1"/>
                </a:solidFill>
                <a:latin typeface="TT Norms Bold" panose="02000503030000020003" pitchFamily="2" charset="77"/>
              </a:rPr>
              <a:t>s</a:t>
            </a: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>
                <a:solidFill>
                  <a:schemeClr val="tx1"/>
                </a:solidFill>
                <a:latin typeface="TT Norms Bold" panose="02000503030000020003" pitchFamily="2" charset="77"/>
              </a:rPr>
              <a:t>Training</a:t>
            </a:r>
            <a:endParaRPr lang="en-US" sz="3200" b="1" u="none" strike="noStrike" cap="none">
              <a:solidFill>
                <a:schemeClr val="tx1"/>
              </a:solidFill>
              <a:latin typeface="TT Norms Bold" panose="02000503030000020003" pitchFamily="2" charset="77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660A286D-798D-249C-CD2D-49E47A6C2A4A}"/>
              </a:ext>
            </a:extLst>
          </p:cNvPr>
          <p:cNvSpPr txBox="1"/>
          <p:nvPr/>
        </p:nvSpPr>
        <p:spPr>
          <a:xfrm>
            <a:off x="7685683" y="4677680"/>
            <a:ext cx="3783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/>
                </a:solidFill>
                <a:latin typeface="TT Norms Regular"/>
              </a:rPr>
              <a:t>Mauro Lucchini</a:t>
            </a:r>
            <a:endParaRPr lang="en-US">
              <a:solidFill>
                <a:schemeClr val="tx1"/>
              </a:solidFill>
              <a:latin typeface="TT Norms Regular"/>
            </a:endParaRPr>
          </a:p>
          <a:p>
            <a:r>
              <a:rPr lang="en-US" sz="1400">
                <a:solidFill>
                  <a:schemeClr val="tx1"/>
                </a:solidFill>
                <a:latin typeface="TT Norms Regular"/>
              </a:rPr>
              <a:t>Backend developer @Validated ID</a:t>
            </a:r>
          </a:p>
        </p:txBody>
      </p:sp>
    </p:spTree>
    <p:extLst>
      <p:ext uri="{BB962C8B-B14F-4D97-AF65-F5344CB8AC3E}">
        <p14:creationId xmlns:p14="http://schemas.microsoft.com/office/powerpoint/2010/main" val="148890199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4">
            <a:extLst>
              <a:ext uri="{FF2B5EF4-FFF2-40B4-BE49-F238E27FC236}">
                <a16:creationId xmlns:a16="http://schemas.microsoft.com/office/drawing/2014/main" id="{5F91E7C6-0624-4D5B-1CFF-2299756CF5FC}"/>
              </a:ext>
            </a:extLst>
          </p:cNvPr>
          <p:cNvSpPr txBox="1"/>
          <p:nvPr/>
        </p:nvSpPr>
        <p:spPr>
          <a:xfrm>
            <a:off x="7308729" y="768503"/>
            <a:ext cx="3125038" cy="9207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F4DFA-60F7-9CD7-6B43-5CB30E9718F0}"/>
              </a:ext>
            </a:extLst>
          </p:cNvPr>
          <p:cNvSpPr txBox="1"/>
          <p:nvPr/>
        </p:nvSpPr>
        <p:spPr>
          <a:xfrm>
            <a:off x="6096000" y="1978379"/>
            <a:ext cx="5550497" cy="4050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kumimoji="0" lang="es-ES" sz="200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T Norms Regular" panose="02000503030000020003" pitchFamily="2" charset="77"/>
                <a:cs typeface="Arial"/>
                <a:sym typeface="Arial"/>
              </a:rPr>
              <a:t>Project i</a:t>
            </a:r>
            <a:r>
              <a:rPr lang="es-ES" sz="2000" err="1">
                <a:solidFill>
                  <a:srgbClr val="000000">
                    <a:lumMod val="75000"/>
                    <a:lumOff val="25000"/>
                  </a:srgbClr>
                </a:solidFill>
                <a:latin typeface="TT Norms Regular" panose="02000503030000020003" pitchFamily="2" charset="77"/>
              </a:rPr>
              <a:t>ntroduction</a:t>
            </a:r>
            <a:endParaRPr lang="es-ES" sz="2000">
              <a:solidFill>
                <a:srgbClr val="000000">
                  <a:lumMod val="75000"/>
                  <a:lumOff val="25000"/>
                </a:srgbClr>
              </a:solidFill>
              <a:latin typeface="TT Norms Regular" panose="02000503030000020003" pitchFamily="2" charset="77"/>
            </a:endParaRPr>
          </a:p>
          <a:p>
            <a:pPr algn="ctr">
              <a:lnSpc>
                <a:spcPct val="130000"/>
              </a:lnSpc>
              <a:defRPr/>
            </a:pPr>
            <a:r>
              <a:rPr kumimoji="0" lang="es-ES" sz="2000" u="none" strike="noStrike" kern="0" cap="none" spc="0" normalizeH="0" baseline="0" noProof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T Norms Regular" panose="02000503030000020003" pitchFamily="2" charset="77"/>
                <a:cs typeface="Arial"/>
                <a:sym typeface="Arial"/>
              </a:rPr>
              <a:t>Introduction </a:t>
            </a:r>
            <a:r>
              <a:rPr lang="es-ES" sz="2000" err="1">
                <a:solidFill>
                  <a:srgbClr val="000000">
                    <a:lumMod val="75000"/>
                    <a:lumOff val="25000"/>
                  </a:srgbClr>
                </a:solidFill>
                <a:latin typeface="TT Norms Regular" panose="02000503030000020003" pitchFamily="2" charset="77"/>
              </a:rPr>
              <a:t>to Self Sovereign Identity</a:t>
            </a:r>
            <a:endParaRPr lang="es-ES" sz="2000">
              <a:solidFill>
                <a:srgbClr val="000000">
                  <a:lumMod val="75000"/>
                  <a:lumOff val="25000"/>
                </a:srgbClr>
              </a:solidFill>
              <a:latin typeface="TT Norms Regular" panose="02000503030000020003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s-ES" sz="2000" err="1">
                <a:solidFill>
                  <a:srgbClr val="000000">
                    <a:lumMod val="75000"/>
                    <a:lumOff val="25000"/>
                  </a:srgbClr>
                </a:solidFill>
                <a:latin typeface="TT Norms Regular" panose="02000503030000020003" pitchFamily="2" charset="77"/>
              </a:rPr>
              <a:t>Components</a:t>
            </a:r>
            <a:endParaRPr lang="es-ES" sz="2000">
              <a:solidFill>
                <a:srgbClr val="000000">
                  <a:lumMod val="75000"/>
                  <a:lumOff val="25000"/>
                </a:srgbClr>
              </a:solidFill>
              <a:latin typeface="TT Norms Regular" panose="02000503030000020003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lang="es-ES" sz="2000">
              <a:solidFill>
                <a:srgbClr val="000000">
                  <a:lumMod val="75000"/>
                  <a:lumOff val="25000"/>
                </a:srgbClr>
              </a:solidFill>
              <a:latin typeface="TT Norms Regular" panose="02000503030000020003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kumimoji="0" lang="es-ES" sz="2000" i="1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T Norms Regular" panose="02000503030000020003" pitchFamily="2" charset="77"/>
                <a:cs typeface="Arial"/>
                <a:sym typeface="Arial"/>
              </a:rPr>
              <a:t>---- Break ---- 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kumimoji="0" lang="es-ES" sz="2000" i="1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T Norms Regular" panose="02000503030000020003" pitchFamily="2" charset="77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s-ES" sz="2000" err="1">
                <a:solidFill>
                  <a:srgbClr val="000000">
                    <a:lumMod val="75000"/>
                    <a:lumOff val="25000"/>
                  </a:srgbClr>
                </a:solidFill>
                <a:latin typeface="TT Norms Regular" panose="02000503030000020003" pitchFamily="2" charset="77"/>
              </a:rPr>
              <a:t>Inspect the integration</a:t>
            </a:r>
            <a:endParaRPr lang="es-ES" sz="2000">
              <a:solidFill>
                <a:srgbClr val="000000">
                  <a:lumMod val="75000"/>
                  <a:lumOff val="25000"/>
                </a:srgbClr>
              </a:solidFill>
              <a:latin typeface="TT Norms Regular" panose="02000503030000020003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s-ES" sz="2000">
                <a:solidFill>
                  <a:srgbClr val="000000">
                    <a:lumMod val="75000"/>
                    <a:lumOff val="25000"/>
                  </a:srgbClr>
                </a:solidFill>
                <a:latin typeface="TT Norms Regular" panose="02000503030000020003" pitchFamily="2" charset="77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r>
              <a:rPr lang="es-ES" sz="2000" err="1">
                <a:solidFill>
                  <a:srgbClr val="000000">
                    <a:lumMod val="75000"/>
                    <a:lumOff val="25000"/>
                  </a:srgbClr>
                </a:solidFill>
                <a:latin typeface="TT Norms Regular" panose="02000503030000020003" pitchFamily="2" charset="77"/>
              </a:rPr>
              <a:t>Integration examples repositories</a:t>
            </a:r>
            <a:endParaRPr lang="es-ES" sz="2000">
              <a:solidFill>
                <a:srgbClr val="000000">
                  <a:lumMod val="75000"/>
                  <a:lumOff val="25000"/>
                </a:srgbClr>
              </a:solidFill>
              <a:latin typeface="TT Norms Regular" panose="02000503030000020003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endParaRPr lang="es-ES" sz="2000">
              <a:solidFill>
                <a:srgbClr val="000000">
                  <a:lumMod val="75000"/>
                  <a:lumOff val="25000"/>
                </a:srgbClr>
              </a:solidFill>
              <a:latin typeface="TT Norms Regular" panose="02000503030000020003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1D844-4CA9-A426-5D9D-D9E74858BE0B}"/>
              </a:ext>
            </a:extLst>
          </p:cNvPr>
          <p:cNvSpPr txBox="1"/>
          <p:nvPr/>
        </p:nvSpPr>
        <p:spPr>
          <a:xfrm>
            <a:off x="348288" y="114822"/>
            <a:ext cx="717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layfair Display Bold" panose="00000800000000000000" pitchFamily="2" charset="0"/>
              </a:rPr>
              <a:t>Portfolio</a:t>
            </a:r>
          </a:p>
        </p:txBody>
      </p:sp>
      <p:pic>
        <p:nvPicPr>
          <p:cNvPr id="6" name="Marcador de posición de imagen 5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205FB1D3-08DF-57EB-11F6-CDA7D887802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1" r="27601"/>
          <a:stretch>
            <a:fillRect/>
          </a:stretch>
        </p:blipFill>
        <p:spPr>
          <a:xfrm>
            <a:off x="0" y="0"/>
            <a:ext cx="5016501" cy="6858000"/>
          </a:xfrm>
        </p:spPr>
      </p:pic>
    </p:spTree>
    <p:extLst>
      <p:ext uri="{BB962C8B-B14F-4D97-AF65-F5344CB8AC3E}">
        <p14:creationId xmlns:p14="http://schemas.microsoft.com/office/powerpoint/2010/main" val="1369271753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4D2D8250-D326-B149-BB7B-9D9E06DB2A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828" b="7828"/>
          <a:stretch>
            <a:fillRect/>
          </a:stretch>
        </p:blipFill>
        <p:spPr/>
      </p:pic>
      <p:sp>
        <p:nvSpPr>
          <p:cNvPr id="2" name="TextBox 27">
            <a:extLst>
              <a:ext uri="{FF2B5EF4-FFF2-40B4-BE49-F238E27FC236}">
                <a16:creationId xmlns:a16="http://schemas.microsoft.com/office/drawing/2014/main" id="{32EC798E-8841-9392-D650-ABF11C96BB2C}"/>
              </a:ext>
            </a:extLst>
          </p:cNvPr>
          <p:cNvSpPr txBox="1"/>
          <p:nvPr/>
        </p:nvSpPr>
        <p:spPr>
          <a:xfrm>
            <a:off x="593383" y="2956679"/>
            <a:ext cx="5786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>
                <a:solidFill>
                  <a:schemeClr val="bg1"/>
                </a:solidFill>
                <a:latin typeface="TT Norms Regular" panose="02000503030000020003" pitchFamily="2" charset="77"/>
                <a:cs typeface="Poppins SemiBold" panose="00000700000000000000" pitchFamily="50" charset="0"/>
              </a:rPr>
              <a:t>Project Introduction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58C177E-C581-CDE5-FA76-90A65A8B1835}"/>
              </a:ext>
            </a:extLst>
          </p:cNvPr>
          <p:cNvSpPr txBox="1"/>
          <p:nvPr/>
        </p:nvSpPr>
        <p:spPr>
          <a:xfrm>
            <a:off x="10569388" y="114822"/>
            <a:ext cx="1280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bg1"/>
                </a:solidFill>
                <a:latin typeface="TT Norms Regular" panose="02000503030000020003" pitchFamily="2" charset="77"/>
              </a:rPr>
              <a:t>Always be yourself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2A96BC3-A417-3ACE-4EF9-6414334D22AE}"/>
              </a:ext>
            </a:extLst>
          </p:cNvPr>
          <p:cNvSpPr txBox="1"/>
          <p:nvPr/>
        </p:nvSpPr>
        <p:spPr>
          <a:xfrm>
            <a:off x="310187" y="122256"/>
            <a:ext cx="933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TT Norms Regular" panose="02000503030000020003" pitchFamily="2" charset="77"/>
              </a:rPr>
              <a:t>Validated ID</a:t>
            </a:r>
          </a:p>
        </p:txBody>
      </p:sp>
      <p:sp>
        <p:nvSpPr>
          <p:cNvPr id="6" name="TextBox 21">
            <a:extLst>
              <a:ext uri="{FF2B5EF4-FFF2-40B4-BE49-F238E27FC236}">
                <a16:creationId xmlns:a16="http://schemas.microsoft.com/office/drawing/2014/main" id="{E5DFEDD0-9329-A39E-D399-0787C74F30AB}"/>
              </a:ext>
            </a:extLst>
          </p:cNvPr>
          <p:cNvSpPr txBox="1"/>
          <p:nvPr/>
        </p:nvSpPr>
        <p:spPr>
          <a:xfrm>
            <a:off x="6067201" y="114822"/>
            <a:ext cx="121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TT Norms Regular" panose="02000503030000020003" pitchFamily="2" charset="77"/>
              </a:rPr>
              <a:t>VIDidentity 2024</a:t>
            </a:r>
          </a:p>
        </p:txBody>
      </p:sp>
    </p:spTree>
    <p:extLst>
      <p:ext uri="{BB962C8B-B14F-4D97-AF65-F5344CB8AC3E}">
        <p14:creationId xmlns:p14="http://schemas.microsoft.com/office/powerpoint/2010/main" val="181937242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5670DD35-361B-012E-4AE5-8C2D8407BC42}"/>
              </a:ext>
            </a:extLst>
          </p:cNvPr>
          <p:cNvSpPr/>
          <p:nvPr/>
        </p:nvSpPr>
        <p:spPr>
          <a:xfrm>
            <a:off x="2926080" y="2692106"/>
            <a:ext cx="5852160" cy="275672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89E180CE-C84F-8F6F-2AE1-3C88D3B5D61E}"/>
              </a:ext>
            </a:extLst>
          </p:cNvPr>
          <p:cNvSpPr/>
          <p:nvPr/>
        </p:nvSpPr>
        <p:spPr>
          <a:xfrm>
            <a:off x="3105031" y="2839786"/>
            <a:ext cx="5488451" cy="1145666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B15BC10-69E0-CE73-BF7B-1FD2F165FA8C}"/>
              </a:ext>
            </a:extLst>
          </p:cNvPr>
          <p:cNvSpPr txBox="1"/>
          <p:nvPr/>
        </p:nvSpPr>
        <p:spPr>
          <a:xfrm>
            <a:off x="292554" y="1969051"/>
            <a:ext cx="10915737" cy="29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" sz="1800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/>
                <a:ea typeface="Poppins"/>
                <a:cs typeface="Poppins"/>
                <a:sym typeface="Poppins"/>
              </a:rPr>
              <a:t>Validated ID provides an extra layer to the project to introduce KosovoWallet for citizens.</a:t>
            </a:r>
            <a:endParaRPr lang="es" sz="1800" b="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/>
              <a:ea typeface="Poppins"/>
              <a:cs typeface="Poppins" panose="02000000000000000000" charset="0"/>
              <a:sym typeface="Poppins" panose="02000000000000000000" charset="0"/>
            </a:endParaRPr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C0560B8A-E3E1-8AAE-955E-FF92C4130A20}"/>
              </a:ext>
            </a:extLst>
          </p:cNvPr>
          <p:cNvSpPr txBox="1"/>
          <p:nvPr/>
        </p:nvSpPr>
        <p:spPr>
          <a:xfrm>
            <a:off x="292554" y="819948"/>
            <a:ext cx="5556703" cy="5187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Project overivew</a:t>
            </a:r>
            <a:endParaRPr lang="en-US" sz="4000" b="1">
              <a:latin typeface="TT Norms Bold" panose="02000503030000020003" pitchFamily="2" charset="77"/>
              <a:cs typeface="Poppins SemiBold" panose="00000700000000000000" pitchFamily="50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D577371-AACE-14D2-11F9-3CCB41391CCC}"/>
              </a:ext>
            </a:extLst>
          </p:cNvPr>
          <p:cNvSpPr/>
          <p:nvPr/>
        </p:nvSpPr>
        <p:spPr>
          <a:xfrm>
            <a:off x="3105032" y="4070468"/>
            <a:ext cx="5488451" cy="1145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C0A186-9818-2F5B-6C75-C21CB04A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455" y="4179751"/>
            <a:ext cx="1270000" cy="927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3EFCF0-0ABA-983B-A7FE-E0A63D24C931}"/>
              </a:ext>
            </a:extLst>
          </p:cNvPr>
          <p:cNvSpPr txBox="1"/>
          <p:nvPr/>
        </p:nvSpPr>
        <p:spPr>
          <a:xfrm>
            <a:off x="4660814" y="4434293"/>
            <a:ext cx="39743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" sz="2000" i="0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Certificate Management System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" sz="2000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cs typeface="Poppins"/>
                <a:sym typeface="Poppins"/>
              </a:rPr>
              <a:t>(CMS)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cs typeface="Poppins" panose="02000000000000000000" charset="0"/>
              <a:sym typeface="Poppins" panose="02000000000000000000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80A79AD-419D-C3F0-FE9F-92EE5670B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051" y="3043339"/>
            <a:ext cx="2413187" cy="717435"/>
          </a:xfrm>
          <a:prstGeom prst="rect">
            <a:avLst/>
          </a:prstGeom>
        </p:spPr>
      </p:pic>
      <p:sp>
        <p:nvSpPr>
          <p:cNvPr id="14" name="TextBox 18">
            <a:extLst>
              <a:ext uri="{FF2B5EF4-FFF2-40B4-BE49-F238E27FC236}">
                <a16:creationId xmlns:a16="http://schemas.microsoft.com/office/drawing/2014/main" id="{49A3ECB8-D324-93D0-DEE5-A25406BCD3FB}"/>
              </a:ext>
            </a:extLst>
          </p:cNvPr>
          <p:cNvSpPr txBox="1"/>
          <p:nvPr/>
        </p:nvSpPr>
        <p:spPr>
          <a:xfrm>
            <a:off x="6065709" y="3189757"/>
            <a:ext cx="39743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" sz="2000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cs typeface="Poppins"/>
                <a:sym typeface="Poppins"/>
              </a:rPr>
              <a:t>KosovoWallet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05972615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Title 14">
            <a:extLst>
              <a:ext uri="{FF2B5EF4-FFF2-40B4-BE49-F238E27FC236}">
                <a16:creationId xmlns:a16="http://schemas.microsoft.com/office/drawing/2014/main" id="{C0560B8A-E3E1-8AAE-955E-FF92C4130A20}"/>
              </a:ext>
            </a:extLst>
          </p:cNvPr>
          <p:cNvSpPr txBox="1"/>
          <p:nvPr/>
        </p:nvSpPr>
        <p:spPr>
          <a:xfrm>
            <a:off x="292554" y="819948"/>
            <a:ext cx="10070646" cy="5187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 Certificates</a:t>
            </a:r>
          </a:p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 with a Certificate Management System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FECC8D8-C4E5-5FD5-41D7-769A045EA69D}"/>
              </a:ext>
            </a:extLst>
          </p:cNvPr>
          <p:cNvSpPr txBox="1"/>
          <p:nvPr/>
        </p:nvSpPr>
        <p:spPr>
          <a:xfrm>
            <a:off x="708258" y="2983134"/>
            <a:ext cx="11072925" cy="195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GB" sz="2800">
                <a:latin typeface="TT Norms Regular"/>
                <a:ea typeface="Calibri"/>
                <a:cs typeface="Calibri"/>
                <a:sym typeface="Calibri"/>
              </a:rPr>
              <a:t>A certificate is a digital document issued by a trusted authority, typically used to sign documents that provide authenticity and integrity.</a:t>
            </a:r>
          </a:p>
        </p:txBody>
      </p:sp>
    </p:spTree>
    <p:extLst>
      <p:ext uri="{BB962C8B-B14F-4D97-AF65-F5344CB8AC3E}">
        <p14:creationId xmlns:p14="http://schemas.microsoft.com/office/powerpoint/2010/main" val="630716283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FC7420E-EB46-9223-E823-2F207C211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9"/>
          <a:stretch>
            <a:fillRect/>
          </a:stretch>
        </p:blipFill>
        <p:spPr bwMode="auto">
          <a:xfrm>
            <a:off x="1816013" y="1591733"/>
            <a:ext cx="9055187" cy="487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4">
            <a:extLst>
              <a:ext uri="{FF2B5EF4-FFF2-40B4-BE49-F238E27FC236}">
                <a16:creationId xmlns:a16="http://schemas.microsoft.com/office/drawing/2014/main" id="{C0560B8A-E3E1-8AAE-955E-FF92C4130A20}"/>
              </a:ext>
            </a:extLst>
          </p:cNvPr>
          <p:cNvSpPr txBox="1"/>
          <p:nvPr/>
        </p:nvSpPr>
        <p:spPr>
          <a:xfrm>
            <a:off x="292554" y="819948"/>
            <a:ext cx="11382611" cy="5187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Public Key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567160544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Title 14">
            <a:extLst>
              <a:ext uri="{FF2B5EF4-FFF2-40B4-BE49-F238E27FC236}">
                <a16:creationId xmlns:a16="http://schemas.microsoft.com/office/drawing/2014/main" id="{C0560B8A-E3E1-8AAE-955E-FF92C4130A20}"/>
              </a:ext>
            </a:extLst>
          </p:cNvPr>
          <p:cNvSpPr txBox="1"/>
          <p:nvPr/>
        </p:nvSpPr>
        <p:spPr>
          <a:xfrm>
            <a:off x="292554" y="819948"/>
            <a:ext cx="11382611" cy="5187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Verifiable Credentials</a:t>
            </a:r>
          </a:p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with KosovoWallet</a:t>
            </a:r>
            <a:endParaRPr lang="en-US" sz="4000" b="1">
              <a:latin typeface="TT Norms Bold" panose="02000503030000020003" pitchFamily="2" charset="77"/>
              <a:cs typeface="Poppins SemiBold" panose="000007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0F9C30-5001-28E6-6C63-D2D72D476EC4}"/>
              </a:ext>
            </a:extLst>
          </p:cNvPr>
          <p:cNvSpPr txBox="1"/>
          <p:nvPr/>
        </p:nvSpPr>
        <p:spPr>
          <a:xfrm>
            <a:off x="922866" y="2735594"/>
            <a:ext cx="10346267" cy="259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GB" sz="2800">
                <a:latin typeface="TT Norms Regular"/>
                <a:cs typeface="Calibri"/>
                <a:sym typeface="Calibri"/>
              </a:rPr>
              <a:t>Verifiable credential is a broader concept within decentralized identity systems, representing digitally signed claims or attributes about an individual that can be shared and verified without the need for a central authority. </a:t>
            </a:r>
          </a:p>
        </p:txBody>
      </p:sp>
    </p:spTree>
    <p:extLst>
      <p:ext uri="{BB962C8B-B14F-4D97-AF65-F5344CB8AC3E}">
        <p14:creationId xmlns:p14="http://schemas.microsoft.com/office/powerpoint/2010/main" val="1266433998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D5125749-01CA-2586-708E-50BB938E4D41}"/>
              </a:ext>
            </a:extLst>
          </p:cNvPr>
          <p:cNvSpPr/>
          <p:nvPr/>
        </p:nvSpPr>
        <p:spPr>
          <a:xfrm>
            <a:off x="2628399" y="2481946"/>
            <a:ext cx="2377440" cy="29260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89E180CE-C84F-8F6F-2AE1-3C88D3B5D61E}"/>
              </a:ext>
            </a:extLst>
          </p:cNvPr>
          <p:cNvSpPr/>
          <p:nvPr/>
        </p:nvSpPr>
        <p:spPr>
          <a:xfrm>
            <a:off x="7592286" y="2481943"/>
            <a:ext cx="2377440" cy="2926079"/>
          </a:xfrm>
          <a:prstGeom prst="rect">
            <a:avLst/>
          </a:prstGeom>
          <a:solidFill>
            <a:srgbClr val="EEFFE9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C0560B8A-E3E1-8AAE-955E-FF92C4130A20}"/>
              </a:ext>
            </a:extLst>
          </p:cNvPr>
          <p:cNvSpPr txBox="1"/>
          <p:nvPr/>
        </p:nvSpPr>
        <p:spPr>
          <a:xfrm>
            <a:off x="292554" y="819948"/>
            <a:ext cx="5556703" cy="5187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Project overivew</a:t>
            </a:r>
            <a:endParaRPr lang="en-US" sz="4000" b="1">
              <a:latin typeface="TT Norms Bold" panose="02000503030000020003" pitchFamily="2" charset="77"/>
              <a:cs typeface="Poppins SemiBold" panose="000007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3EFCF0-0ABA-983B-A7FE-E0A63D24C931}"/>
              </a:ext>
            </a:extLst>
          </p:cNvPr>
          <p:cNvSpPr txBox="1"/>
          <p:nvPr/>
        </p:nvSpPr>
        <p:spPr>
          <a:xfrm>
            <a:off x="3404326" y="3877583"/>
            <a:ext cx="825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" sz="2000" i="0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CMS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cs typeface="Poppins"/>
              <a:sym typeface="Poppins"/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49A3ECB8-D324-93D0-DEE5-A25406BCD3FB}"/>
              </a:ext>
            </a:extLst>
          </p:cNvPr>
          <p:cNvSpPr txBox="1"/>
          <p:nvPr/>
        </p:nvSpPr>
        <p:spPr>
          <a:xfrm>
            <a:off x="7847573" y="3877583"/>
            <a:ext cx="1866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" sz="2000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cs typeface="Poppins"/>
                <a:sym typeface="Poppins"/>
              </a:rPr>
              <a:t>KosovoWallet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cs typeface="Poppins"/>
              <a:sym typeface="Poppins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FADDF65-200B-354B-05CD-4BC45B9FBE7F}"/>
              </a:ext>
            </a:extLst>
          </p:cNvPr>
          <p:cNvCxnSpPr/>
          <p:nvPr/>
        </p:nvCxnSpPr>
        <p:spPr>
          <a:xfrm>
            <a:off x="5012665" y="4920504"/>
            <a:ext cx="2566558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8">
            <a:extLst>
              <a:ext uri="{FF2B5EF4-FFF2-40B4-BE49-F238E27FC236}">
                <a16:creationId xmlns:a16="http://schemas.microsoft.com/office/drawing/2014/main" id="{A2AAC44E-3D1E-333B-1055-0E945696ED2C}"/>
              </a:ext>
            </a:extLst>
          </p:cNvPr>
          <p:cNvSpPr txBox="1"/>
          <p:nvPr/>
        </p:nvSpPr>
        <p:spPr>
          <a:xfrm>
            <a:off x="5551939" y="3899262"/>
            <a:ext cx="14681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-ES" sz="2000" i="0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I</a:t>
            </a:r>
            <a:r>
              <a:rPr lang="es" sz="2000" i="0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ssue </a:t>
            </a:r>
            <a:r>
              <a:rPr lang="es" sz="2000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C</a:t>
            </a:r>
            <a:r>
              <a:rPr lang="es" sz="2000" i="0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itizen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" sz="2000" i="0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 credential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cs typeface="Poppins"/>
              <a:sym typeface="Poppins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0614B35-F2F1-5FD1-01FB-F99C28BA40DC}"/>
              </a:ext>
            </a:extLst>
          </p:cNvPr>
          <p:cNvCxnSpPr/>
          <p:nvPr/>
        </p:nvCxnSpPr>
        <p:spPr>
          <a:xfrm>
            <a:off x="5000533" y="2977279"/>
            <a:ext cx="2566558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8">
            <a:extLst>
              <a:ext uri="{FF2B5EF4-FFF2-40B4-BE49-F238E27FC236}">
                <a16:creationId xmlns:a16="http://schemas.microsoft.com/office/drawing/2014/main" id="{090A4045-FC7D-8268-2D20-8205BF9666B1}"/>
              </a:ext>
            </a:extLst>
          </p:cNvPr>
          <p:cNvSpPr txBox="1"/>
          <p:nvPr/>
        </p:nvSpPr>
        <p:spPr>
          <a:xfrm>
            <a:off x="5136468" y="226191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-ES" sz="2000" err="1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Authenticate KosovoWallet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ea typeface="Poppins"/>
              <a:cs typeface="Poppins" panose="02000000000000000000" charset="0"/>
              <a:sym typeface="Poppins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20538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89E180CE-C84F-8F6F-2AE1-3C88D3B5D61E}"/>
              </a:ext>
            </a:extLst>
          </p:cNvPr>
          <p:cNvSpPr/>
          <p:nvPr/>
        </p:nvSpPr>
        <p:spPr>
          <a:xfrm>
            <a:off x="7592286" y="2534195"/>
            <a:ext cx="2377440" cy="2926079"/>
          </a:xfrm>
          <a:prstGeom prst="rect">
            <a:avLst/>
          </a:prstGeom>
          <a:solidFill>
            <a:srgbClr val="EEFFE9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C0560B8A-E3E1-8AAE-955E-FF92C4130A20}"/>
              </a:ext>
            </a:extLst>
          </p:cNvPr>
          <p:cNvSpPr txBox="1"/>
          <p:nvPr/>
        </p:nvSpPr>
        <p:spPr>
          <a:xfrm>
            <a:off x="292554" y="819948"/>
            <a:ext cx="5556703" cy="5187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>
                <a:latin typeface="TT Norms Bold" panose="02000503030000020003" pitchFamily="2" charset="77"/>
                <a:cs typeface="Poppins SemiBold" panose="00000700000000000000" pitchFamily="50" charset="0"/>
              </a:rPr>
              <a:t>Project overivew</a:t>
            </a:r>
            <a:endParaRPr lang="en-US" sz="4000" b="1">
              <a:latin typeface="TT Norms Bold" panose="02000503030000020003" pitchFamily="2" charset="77"/>
              <a:cs typeface="Poppins SemiBold" panose="00000700000000000000" pitchFamily="50" charset="0"/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49A3ECB8-D324-93D0-DEE5-A25406BCD3FB}"/>
              </a:ext>
            </a:extLst>
          </p:cNvPr>
          <p:cNvSpPr txBox="1"/>
          <p:nvPr/>
        </p:nvSpPr>
        <p:spPr>
          <a:xfrm>
            <a:off x="7847573" y="3929835"/>
            <a:ext cx="1866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" sz="2000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cs typeface="Poppins"/>
                <a:sym typeface="Poppins"/>
              </a:rPr>
              <a:t>KosovoWallet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cs typeface="Poppins"/>
              <a:sym typeface="Poppins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0614B35-F2F1-5FD1-01FB-F99C28BA40DC}"/>
              </a:ext>
            </a:extLst>
          </p:cNvPr>
          <p:cNvCxnSpPr/>
          <p:nvPr/>
        </p:nvCxnSpPr>
        <p:spPr>
          <a:xfrm>
            <a:off x="5065848" y="4004717"/>
            <a:ext cx="2566558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8">
            <a:extLst>
              <a:ext uri="{FF2B5EF4-FFF2-40B4-BE49-F238E27FC236}">
                <a16:creationId xmlns:a16="http://schemas.microsoft.com/office/drawing/2014/main" id="{090A4045-FC7D-8268-2D20-8205BF9666B1}"/>
              </a:ext>
            </a:extLst>
          </p:cNvPr>
          <p:cNvSpPr txBox="1"/>
          <p:nvPr/>
        </p:nvSpPr>
        <p:spPr>
          <a:xfrm>
            <a:off x="5160407" y="4020094"/>
            <a:ext cx="2377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-ES" sz="2000" err="1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Authenticate KosovoWallet</a:t>
            </a:r>
            <a:endParaRPr lang="es-ES" sz="2000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ea typeface="Poppins"/>
              <a:cs typeface="Poppins" panose="02000000000000000000" charset="0"/>
              <a:sym typeface="Poppins" panose="02000000000000000000" charset="0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-ES" sz="2000" err="1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w</a:t>
            </a:r>
            <a:r>
              <a:rPr lang="es-ES" sz="2000" i="0" u="none" strike="noStrike" err="1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ith Citizen</a:t>
            </a:r>
            <a:endParaRPr lang="es-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ea typeface="Poppins"/>
              <a:cs typeface="Poppins" panose="02000000000000000000" charset="0"/>
              <a:sym typeface="Poppins" panose="02000000000000000000" charset="0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</a:pPr>
            <a:r>
              <a:rPr lang="es-ES" sz="2000" err="1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Regular" panose="02000503030000020003" pitchFamily="2" charset="77"/>
                <a:ea typeface="Poppins"/>
                <a:cs typeface="Poppins"/>
                <a:sym typeface="Poppins"/>
              </a:rPr>
              <a:t>credential</a:t>
            </a:r>
            <a:endParaRPr lang="es" sz="200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 panose="02000503030000020003" pitchFamily="2" charset="77"/>
              <a:ea typeface="Poppins"/>
              <a:cs typeface="Poppins"/>
              <a:sym typeface="Poppins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046AFAD-890A-0A6C-BB83-03EE55660398}"/>
              </a:ext>
            </a:extLst>
          </p:cNvPr>
          <p:cNvSpPr txBox="1"/>
          <p:nvPr/>
        </p:nvSpPr>
        <p:spPr>
          <a:xfrm>
            <a:off x="292554" y="1969051"/>
            <a:ext cx="10915737" cy="29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" sz="1800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/>
                <a:ea typeface="Poppins"/>
                <a:cs typeface="Poppins"/>
                <a:sym typeface="Poppins"/>
              </a:rPr>
              <a:t>Any governmental portal could request presenting this credential to authenticate citizens.</a:t>
            </a:r>
            <a:endParaRPr lang="es" sz="1800" b="0" i="0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Regular"/>
              <a:ea typeface="Poppins"/>
              <a:cs typeface="Poppins"/>
              <a:sym typeface="Poppin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7F50DD4-7AE9-22CA-DF12-820282A4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153" y="2748785"/>
            <a:ext cx="3364967" cy="2711489"/>
          </a:xfrm>
          <a:prstGeom prst="rect">
            <a:avLst/>
          </a:prstGeom>
          <a:effectLst>
            <a:outerShdw blurRad="50800" dist="38100" dir="2700000" sx="102316" sy="102316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03462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4D2D8250-D326-B149-BB7B-9D9E06DB2A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581" t="17068" r="7983" b="19283"/>
          <a:stretch>
            <a:fillRect/>
          </a:stretch>
        </p:blipFill>
        <p:spPr>
          <a:xfrm rot="10800000" flipV="1">
            <a:off x="-2" y="0"/>
            <a:ext cx="12191999" cy="6858000"/>
          </a:xfr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3B6CF06A-37A4-39CA-13EC-1314A0A15610}"/>
              </a:ext>
            </a:extLst>
          </p:cNvPr>
          <p:cNvSpPr txBox="1"/>
          <p:nvPr/>
        </p:nvSpPr>
        <p:spPr>
          <a:xfrm>
            <a:off x="10569388" y="114822"/>
            <a:ext cx="1280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bg1"/>
                </a:solidFill>
                <a:latin typeface="TT Norms Regular" panose="02000503030000020003" pitchFamily="2" charset="77"/>
              </a:rPr>
              <a:t>Always be yourself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7B53B99-6544-9A1F-589B-91C47518DEE8}"/>
              </a:ext>
            </a:extLst>
          </p:cNvPr>
          <p:cNvSpPr txBox="1"/>
          <p:nvPr/>
        </p:nvSpPr>
        <p:spPr>
          <a:xfrm>
            <a:off x="310187" y="122256"/>
            <a:ext cx="933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TT Norms Regular" panose="02000503030000020003" pitchFamily="2" charset="77"/>
              </a:rPr>
              <a:t>Validated ID</a:t>
            </a:r>
          </a:p>
        </p:txBody>
      </p:sp>
      <p:sp>
        <p:nvSpPr>
          <p:cNvPr id="6" name="TextBox 21">
            <a:extLst>
              <a:ext uri="{FF2B5EF4-FFF2-40B4-BE49-F238E27FC236}">
                <a16:creationId xmlns:a16="http://schemas.microsoft.com/office/drawing/2014/main" id="{D0C43450-8A1F-ED7D-5A69-915BC19BF676}"/>
              </a:ext>
            </a:extLst>
          </p:cNvPr>
          <p:cNvSpPr txBox="1"/>
          <p:nvPr/>
        </p:nvSpPr>
        <p:spPr>
          <a:xfrm>
            <a:off x="6067201" y="114822"/>
            <a:ext cx="121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TT Norms Regular" panose="02000503030000020003" pitchFamily="2" charset="77"/>
              </a:rPr>
              <a:t>VIDidentity 2024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C3F3C60B-E4EE-FC4A-1AEC-E6606E96ADFF}"/>
              </a:ext>
            </a:extLst>
          </p:cNvPr>
          <p:cNvSpPr txBox="1"/>
          <p:nvPr/>
        </p:nvSpPr>
        <p:spPr>
          <a:xfrm>
            <a:off x="310187" y="5176418"/>
            <a:ext cx="638314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500">
                <a:solidFill>
                  <a:schemeClr val="bg1"/>
                </a:solidFill>
                <a:latin typeface="TT Norms Regular" panose="02000503030000020003" pitchFamily="2" charset="77"/>
                <a:cs typeface="Poppins SemiBold" panose="00000700000000000000" pitchFamily="50" charset="0"/>
              </a:rPr>
              <a:t>Introduction to </a:t>
            </a:r>
          </a:p>
          <a:p>
            <a:pPr>
              <a:lnSpc>
                <a:spcPts val="4500"/>
              </a:lnSpc>
            </a:pPr>
            <a:r>
              <a:rPr lang="en-US" sz="4500">
                <a:solidFill>
                  <a:schemeClr val="bg1"/>
                </a:solidFill>
                <a:latin typeface="TT Norms Regular" panose="02000503030000020003" pitchFamily="2" charset="77"/>
                <a:cs typeface="Poppins SemiBold" panose="00000700000000000000" pitchFamily="50" charset="0"/>
              </a:rPr>
              <a:t>Self Sovereign identity</a:t>
            </a:r>
          </a:p>
        </p:txBody>
      </p:sp>
    </p:spTree>
    <p:extLst>
      <p:ext uri="{BB962C8B-B14F-4D97-AF65-F5344CB8AC3E}">
        <p14:creationId xmlns:p14="http://schemas.microsoft.com/office/powerpoint/2010/main" val="4138472952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Title 14">
            <a:extLst>
              <a:ext uri="{FF2B5EF4-FFF2-40B4-BE49-F238E27FC236}">
                <a16:creationId xmlns:a16="http://schemas.microsoft.com/office/drawing/2014/main" id="{EF68ABEE-455B-2532-2972-C4AE9D0A3BE3}"/>
              </a:ext>
            </a:extLst>
          </p:cNvPr>
          <p:cNvSpPr txBox="1"/>
          <p:nvPr/>
        </p:nvSpPr>
        <p:spPr>
          <a:xfrm>
            <a:off x="292553" y="819948"/>
            <a:ext cx="10288361" cy="16311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kumimoji="0" lang="es-ES" sz="4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T Norms Bold"/>
                <a:cs typeface="Arial"/>
                <a:sym typeface="Arial"/>
              </a:rPr>
              <a:t>Digital wallets and verifiable credentials</a:t>
            </a:r>
            <a:endParaRPr kumimoji="0" lang="es-ES" sz="2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T Norms Bold"/>
              <a:cs typeface="Arial"/>
              <a:sym typeface="Arial"/>
            </a:endParaRPr>
          </a:p>
        </p:txBody>
      </p:sp>
      <p:pic>
        <p:nvPicPr>
          <p:cNvPr id="29" name="Imagen 28" descr="Imagen de la pantalla de un celular en la mano&#10;&#10;Descripción generada automáticamente con confianza baja">
            <a:extLst>
              <a:ext uri="{FF2B5EF4-FFF2-40B4-BE49-F238E27FC236}">
                <a16:creationId xmlns:a16="http://schemas.microsoft.com/office/drawing/2014/main" id="{E4F87E8C-B004-C005-95F9-88BB8B733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20" y="2319229"/>
            <a:ext cx="5624518" cy="316331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3FCFAE-6148-5EC1-27B5-A277E4A38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" t="7541" r="21149" b="14880"/>
          <a:stretch>
            <a:fillRect/>
          </a:stretch>
        </p:blipFill>
        <p:spPr>
          <a:xfrm>
            <a:off x="6226651" y="2319229"/>
            <a:ext cx="5624518" cy="3163314"/>
          </a:xfrm>
          <a:prstGeom prst="rect">
            <a:avLst/>
          </a:prstGeom>
        </p:spPr>
      </p:pic>
      <p:grpSp>
        <p:nvGrpSpPr>
          <p:cNvPr id="32" name="Group 48">
            <a:extLst>
              <a:ext uri="{FF2B5EF4-FFF2-40B4-BE49-F238E27FC236}">
                <a16:creationId xmlns:a16="http://schemas.microsoft.com/office/drawing/2014/main" id="{95820696-13BA-4414-479E-28E085AA0A7B}"/>
              </a:ext>
            </a:extLst>
          </p:cNvPr>
          <p:cNvGrpSpPr/>
          <p:nvPr/>
        </p:nvGrpSpPr>
        <p:grpSpPr>
          <a:xfrm rot="8100000" flipH="1">
            <a:off x="5679083" y="3470283"/>
            <a:ext cx="859958" cy="861206"/>
            <a:chOff x="5373443" y="5153509"/>
            <a:chExt cx="655905" cy="656856"/>
          </a:xfrm>
        </p:grpSpPr>
        <p:sp>
          <p:nvSpPr>
            <p:cNvPr id="33" name="Oval 5">
              <a:extLst>
                <a:ext uri="{FF2B5EF4-FFF2-40B4-BE49-F238E27FC236}">
                  <a16:creationId xmlns:a16="http://schemas.microsoft.com/office/drawing/2014/main" id="{B3C032A4-423F-1BC0-885C-01E469069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3443" y="5153509"/>
              <a:ext cx="655905" cy="656856"/>
            </a:xfrm>
            <a:prstGeom prst="ellipse">
              <a:avLst/>
            </a:prstGeom>
            <a:solidFill>
              <a:srgbClr val="424FF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4" name="Group 58">
              <a:extLst>
                <a:ext uri="{FF2B5EF4-FFF2-40B4-BE49-F238E27FC236}">
                  <a16:creationId xmlns:a16="http://schemas.microsoft.com/office/drawing/2014/main" id="{8AF7BA9D-36C2-13A2-A421-FE6D759D90A9}"/>
                </a:ext>
              </a:extLst>
            </p:cNvPr>
            <p:cNvGrpSpPr/>
            <p:nvPr/>
          </p:nvGrpSpPr>
          <p:grpSpPr>
            <a:xfrm rot="18900000">
              <a:off x="5588442" y="5389006"/>
              <a:ext cx="213300" cy="198459"/>
              <a:chOff x="2984500" y="1727202"/>
              <a:chExt cx="165100" cy="152399"/>
            </a:xfrm>
            <a:solidFill>
              <a:schemeClr val="bg1"/>
            </a:solidFill>
          </p:grpSpPr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2072B2B8-D5F8-3E91-35F9-46C1E46DD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1793875"/>
                <a:ext cx="142875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Arial"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E19B9CCD-A333-860B-7E51-EBDF3B079E4E}"/>
                  </a:ext>
                </a:extLst>
              </p:cNvPr>
              <p:cNvSpPr/>
              <p:nvPr/>
            </p:nvSpPr>
            <p:spPr bwMode="auto">
              <a:xfrm>
                <a:off x="3060695" y="1727202"/>
                <a:ext cx="88901" cy="90488"/>
              </a:xfrm>
              <a:custGeom>
                <a:gdLst>
                  <a:gd name="T0" fmla="*/ 0 w 56"/>
                  <a:gd name="T1" fmla="*/ 9 h 57"/>
                  <a:gd name="T2" fmla="*/ 9 w 56"/>
                  <a:gd name="T3" fmla="*/ 0 h 57"/>
                  <a:gd name="T4" fmla="*/ 56 w 56"/>
                  <a:gd name="T5" fmla="*/ 48 h 57"/>
                  <a:gd name="T6" fmla="*/ 47 w 56"/>
                  <a:gd name="T7" fmla="*/ 57 h 57"/>
                  <a:gd name="T8" fmla="*/ 0 w 56"/>
                  <a:gd name="T9" fmla="*/ 9 h 5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0" y="9"/>
                    </a:moveTo>
                    <a:lnTo>
                      <a:pt x="9" y="0"/>
                    </a:lnTo>
                    <a:lnTo>
                      <a:pt x="56" y="48"/>
                    </a:lnTo>
                    <a:lnTo>
                      <a:pt x="47" y="57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Arial"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" name="Freeform 8">
                <a:extLst>
                  <a:ext uri="{FF2B5EF4-FFF2-40B4-BE49-F238E27FC236}">
                    <a16:creationId xmlns:a16="http://schemas.microsoft.com/office/drawing/2014/main" id="{0D218A76-F859-EBF3-6BCA-9CF99C48EBE5}"/>
                  </a:ext>
                </a:extLst>
              </p:cNvPr>
              <p:cNvSpPr/>
              <p:nvPr/>
            </p:nvSpPr>
            <p:spPr bwMode="auto">
              <a:xfrm>
                <a:off x="3060700" y="1789113"/>
                <a:ext cx="88900" cy="90488"/>
              </a:xfrm>
              <a:custGeom>
                <a:gdLst>
                  <a:gd name="T0" fmla="*/ 0 w 56"/>
                  <a:gd name="T1" fmla="*/ 48 h 57"/>
                  <a:gd name="T2" fmla="*/ 47 w 56"/>
                  <a:gd name="T3" fmla="*/ 0 h 57"/>
                  <a:gd name="T4" fmla="*/ 56 w 56"/>
                  <a:gd name="T5" fmla="*/ 9 h 57"/>
                  <a:gd name="T6" fmla="*/ 9 w 56"/>
                  <a:gd name="T7" fmla="*/ 57 h 57"/>
                  <a:gd name="T8" fmla="*/ 0 w 56"/>
                  <a:gd name="T9" fmla="*/ 48 h 57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0" y="48"/>
                    </a:moveTo>
                    <a:lnTo>
                      <a:pt x="47" y="0"/>
                    </a:lnTo>
                    <a:lnTo>
                      <a:pt x="56" y="9"/>
                    </a:lnTo>
                    <a:lnTo>
                      <a:pt x="9" y="57"/>
                    </a:lnTo>
                    <a:lnTo>
                      <a:pt x="0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Arial"/>
                  <a:buNone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0173263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6" name="Title 14">
            <a:extLst>
              <a:ext uri="{FF2B5EF4-FFF2-40B4-BE49-F238E27FC236}">
                <a16:creationId xmlns:a16="http://schemas.microsoft.com/office/drawing/2014/main" id="{1950E678-3C48-3E09-DA10-94C23572C9D9}"/>
              </a:ext>
            </a:extLst>
          </p:cNvPr>
          <p:cNvSpPr txBox="1"/>
          <p:nvPr/>
        </p:nvSpPr>
        <p:spPr>
          <a:xfrm>
            <a:off x="292554" y="819948"/>
            <a:ext cx="3441245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Actors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02843A1-5A73-6053-34AF-4AB02EF4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555" y="2115333"/>
            <a:ext cx="7772400" cy="311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97218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6" name="Title 14">
            <a:extLst>
              <a:ext uri="{FF2B5EF4-FFF2-40B4-BE49-F238E27FC236}">
                <a16:creationId xmlns:a16="http://schemas.microsoft.com/office/drawing/2014/main" id="{1950E678-3C48-3E09-DA10-94C23572C9D9}"/>
              </a:ext>
            </a:extLst>
          </p:cNvPr>
          <p:cNvSpPr txBox="1"/>
          <p:nvPr/>
        </p:nvSpPr>
        <p:spPr>
          <a:xfrm>
            <a:off x="292554" y="819948"/>
            <a:ext cx="8250555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>
                <a:latin typeface="TT Norms Bold"/>
                <a:cs typeface="Arial"/>
                <a:sym typeface="Arial"/>
              </a:rPr>
              <a:t>DID: Decentralized Identifiers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8CAD9B-1F9F-14FF-1310-64287EDF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2760617"/>
            <a:ext cx="4191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13202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6" name="Title 14">
            <a:extLst>
              <a:ext uri="{FF2B5EF4-FFF2-40B4-BE49-F238E27FC236}">
                <a16:creationId xmlns:a16="http://schemas.microsoft.com/office/drawing/2014/main" id="{1950E678-3C48-3E09-DA10-94C23572C9D9}"/>
              </a:ext>
            </a:extLst>
          </p:cNvPr>
          <p:cNvSpPr txBox="1"/>
          <p:nvPr/>
        </p:nvSpPr>
        <p:spPr>
          <a:xfrm>
            <a:off x="292554" y="819948"/>
            <a:ext cx="8250555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>
                <a:latin typeface="TT Norms Bold"/>
                <a:cs typeface="Arial"/>
                <a:sym typeface="Arial"/>
              </a:rPr>
              <a:t>DID: Decentralized Identifiers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48F72E-17F6-89FE-C59F-8EBEF0502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550" y="2470150"/>
            <a:ext cx="5422900" cy="28321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9CA26F2-0F3C-275F-E45E-152F4EB9F7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19213" y="4336913"/>
            <a:ext cx="965337" cy="96533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8878B2-5F63-92D8-41FE-DD23B1280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213" y="2463663"/>
            <a:ext cx="965337" cy="96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99532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9D346D2C-7854-56B2-F853-592592601CB3}"/>
              </a:ext>
            </a:extLst>
          </p:cNvPr>
          <p:cNvSpPr/>
          <p:nvPr/>
        </p:nvSpPr>
        <p:spPr>
          <a:xfrm>
            <a:off x="2491006" y="3776871"/>
            <a:ext cx="1868957" cy="102433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Title 14">
            <a:extLst>
              <a:ext uri="{FF2B5EF4-FFF2-40B4-BE49-F238E27FC236}">
                <a16:creationId xmlns:a16="http://schemas.microsoft.com/office/drawing/2014/main" id="{1950E678-3C48-3E09-DA10-94C23572C9D9}"/>
              </a:ext>
            </a:extLst>
          </p:cNvPr>
          <p:cNvSpPr txBox="1"/>
          <p:nvPr/>
        </p:nvSpPr>
        <p:spPr>
          <a:xfrm>
            <a:off x="292554" y="819948"/>
            <a:ext cx="10834625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Asymmetric cryptography</a:t>
            </a:r>
            <a:r>
              <a:rPr lang="es-ES" sz="4000" kern="0">
                <a:latin typeface="TT Norms Bold"/>
                <a:cs typeface="Arial"/>
              </a:rPr>
              <a:t>: </a:t>
            </a:r>
            <a:r>
              <a:rPr lang="es-ES" sz="4000" kern="0">
                <a:latin typeface="TT Norms Bold"/>
                <a:cs typeface="Arial"/>
                <a:sym typeface="Arial"/>
              </a:rPr>
              <a:t>Digital Signatures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CA26F2-0F3C-275F-E45E-152F4EB9F70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59687" y="2858019"/>
            <a:ext cx="704053" cy="7040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8878B2-5F63-92D8-41FE-DD23B1280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472" y="4389891"/>
            <a:ext cx="695471" cy="6954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C9082EF-6D83-35C3-6A74-EF22B859A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828" y="2120864"/>
            <a:ext cx="704052" cy="70405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45E9F51-1AA7-70F4-0E5E-AF1DF97D5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548" y="2127569"/>
            <a:ext cx="704053" cy="704053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38A1A45-C683-0639-829D-C8243FA202D7}"/>
              </a:ext>
            </a:extLst>
          </p:cNvPr>
          <p:cNvCxnSpPr>
            <a:stCxn id="5" idx="3"/>
          </p:cNvCxnSpPr>
          <p:nvPr/>
        </p:nvCxnSpPr>
        <p:spPr>
          <a:xfrm>
            <a:off x="1928880" y="2472890"/>
            <a:ext cx="1124252" cy="67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D24F42-0792-DB69-1244-5CD9BA1BA6FD}"/>
              </a:ext>
            </a:extLst>
          </p:cNvPr>
          <p:cNvSpPr txBox="1"/>
          <p:nvPr/>
        </p:nvSpPr>
        <p:spPr>
          <a:xfrm>
            <a:off x="1876576" y="2550242"/>
            <a:ext cx="1378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latin typeface="TT Norms Regular"/>
                <a:cs typeface="Calibri"/>
              </a:rPr>
              <a:t>Compute hash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40B37DD-3531-970B-F1BF-20DB41F3CD97}"/>
              </a:ext>
            </a:extLst>
          </p:cNvPr>
          <p:cNvCxnSpPr/>
          <p:nvPr/>
        </p:nvCxnSpPr>
        <p:spPr>
          <a:xfrm flipH="1">
            <a:off x="3554574" y="2777479"/>
            <a:ext cx="0" cy="637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37F3FC2-BDB7-FA06-0439-6160675137AF}"/>
              </a:ext>
            </a:extLst>
          </p:cNvPr>
          <p:cNvSpPr txBox="1"/>
          <p:nvPr/>
        </p:nvSpPr>
        <p:spPr>
          <a:xfrm>
            <a:off x="2235745" y="3003707"/>
            <a:ext cx="122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err="1">
                <a:latin typeface="TT Norms Regular"/>
                <a:cs typeface="Calibri"/>
              </a:rPr>
              <a:t>Cypher with private key</a:t>
            </a:r>
            <a:endParaRPr lang="es-ES">
              <a:latin typeface="TT Norms Regular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29EE8FD-216B-E121-F3D0-877B4282E04D}"/>
              </a:ext>
            </a:extLst>
          </p:cNvPr>
          <p:cNvSpPr txBox="1"/>
          <p:nvPr/>
        </p:nvSpPr>
        <p:spPr>
          <a:xfrm>
            <a:off x="2148929" y="5515556"/>
            <a:ext cx="1223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latin typeface="TT Norms Regular"/>
                <a:cs typeface="Calibri"/>
              </a:rPr>
              <a:t>ISSUER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D193A44B-0DC8-07AF-8DBD-ECD0497AA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493" y="3913032"/>
            <a:ext cx="704052" cy="7040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AFBFDFB-6085-B45C-0C57-6FECF6E64D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72871" y="3913031"/>
            <a:ext cx="704053" cy="704053"/>
          </a:xfrm>
          <a:prstGeom prst="rect">
            <a:avLst/>
          </a:prstGeom>
        </p:spPr>
      </p:pic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9C99DA7-F6B4-3952-830A-1CD06CA301FA}"/>
              </a:ext>
            </a:extLst>
          </p:cNvPr>
          <p:cNvCxnSpPr>
            <a:stCxn id="21" idx="3"/>
          </p:cNvCxnSpPr>
          <p:nvPr/>
        </p:nvCxnSpPr>
        <p:spPr>
          <a:xfrm>
            <a:off x="4359963" y="4289041"/>
            <a:ext cx="20010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DA1E646-D346-7B1B-F6EB-62A7B8A1BC03}"/>
              </a:ext>
            </a:extLst>
          </p:cNvPr>
          <p:cNvSpPr txBox="1"/>
          <p:nvPr/>
        </p:nvSpPr>
        <p:spPr>
          <a:xfrm>
            <a:off x="4943919" y="4355474"/>
            <a:ext cx="122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latin typeface="TT Norms Regular"/>
                <a:cs typeface="Calibri"/>
              </a:rPr>
              <a:t>Share document</a:t>
            </a:r>
            <a:endParaRPr lang="es-ES">
              <a:latin typeface="TT Norms Regular"/>
              <a:cs typeface="Calibri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69551BC-8281-E16F-B863-E3DCA8D50089}"/>
              </a:ext>
            </a:extLst>
          </p:cNvPr>
          <p:cNvSpPr/>
          <p:nvPr/>
        </p:nvSpPr>
        <p:spPr>
          <a:xfrm>
            <a:off x="6497841" y="3835410"/>
            <a:ext cx="1868957" cy="102433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78C81999-8BE5-5C8A-A580-B1AB0ACA1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328" y="3971571"/>
            <a:ext cx="704052" cy="70405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3331B6C-7412-47B8-7520-03AECA1AE5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9706" y="3971570"/>
            <a:ext cx="704053" cy="704053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E2803D9C-6243-7BF9-9AD9-08900F515612}"/>
              </a:ext>
            </a:extLst>
          </p:cNvPr>
          <p:cNvSpPr txBox="1"/>
          <p:nvPr/>
        </p:nvSpPr>
        <p:spPr>
          <a:xfrm>
            <a:off x="8196228" y="5515556"/>
            <a:ext cx="1223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latin typeface="TT Norms Regular"/>
                <a:cs typeface="Calibri"/>
              </a:rPr>
              <a:t>VERIFIER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461B1591-A419-1495-AD0B-C02E0F91D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1865" y="2120864"/>
            <a:ext cx="704053" cy="704053"/>
          </a:xfrm>
          <a:prstGeom prst="rect">
            <a:avLst/>
          </a:prstGeom>
        </p:spPr>
      </p:pic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52738CB-8199-B89D-A19E-3B1357C4E3FA}"/>
              </a:ext>
            </a:extLst>
          </p:cNvPr>
          <p:cNvCxnSpPr>
            <a:stCxn id="27" idx="0"/>
            <a:endCxn id="31" idx="1"/>
          </p:cNvCxnSpPr>
          <p:nvPr/>
        </p:nvCxnSpPr>
        <p:spPr>
          <a:xfrm flipV="1">
            <a:off x="6972354" y="2472891"/>
            <a:ext cx="3039511" cy="1498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BCC6D58-ED41-046D-E31C-0A16176DB75E}"/>
              </a:ext>
            </a:extLst>
          </p:cNvPr>
          <p:cNvSpPr txBox="1"/>
          <p:nvPr/>
        </p:nvSpPr>
        <p:spPr>
          <a:xfrm>
            <a:off x="7178236" y="2871826"/>
            <a:ext cx="1378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latin typeface="TT Norms Regular"/>
                <a:cs typeface="Calibri"/>
              </a:rPr>
              <a:t>Compute hash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1EAC5D8-1858-769D-B552-5BBF4E1E9613}"/>
              </a:ext>
            </a:extLst>
          </p:cNvPr>
          <p:cNvCxnSpPr>
            <a:stCxn id="28" idx="3"/>
            <a:endCxn id="41" idx="1"/>
          </p:cNvCxnSpPr>
          <p:nvPr/>
        </p:nvCxnSpPr>
        <p:spPr>
          <a:xfrm flipV="1">
            <a:off x="8083759" y="4323596"/>
            <a:ext cx="192810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n 40">
            <a:extLst>
              <a:ext uri="{FF2B5EF4-FFF2-40B4-BE49-F238E27FC236}">
                <a16:creationId xmlns:a16="http://schemas.microsoft.com/office/drawing/2014/main" id="{DD764079-01DC-8E74-063D-62EA3E445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1866" y="3971569"/>
            <a:ext cx="704053" cy="704053"/>
          </a:xfrm>
          <a:prstGeom prst="rect">
            <a:avLst/>
          </a:prstGeom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B2814E77-7935-B89F-CC07-064F1D472AF7}"/>
              </a:ext>
            </a:extLst>
          </p:cNvPr>
          <p:cNvSpPr txBox="1"/>
          <p:nvPr/>
        </p:nvSpPr>
        <p:spPr>
          <a:xfrm>
            <a:off x="8422124" y="3734082"/>
            <a:ext cx="136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err="1">
                <a:latin typeface="TT Norms Regular"/>
                <a:cs typeface="Calibri"/>
              </a:rPr>
              <a:t>Decypher with public key</a:t>
            </a:r>
            <a:endParaRPr lang="es-ES">
              <a:latin typeface="TT Norms Regular"/>
              <a:cs typeface="Calibri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706EC79F-7D1C-B3D4-66D6-38985AB122FE}"/>
              </a:ext>
            </a:extLst>
          </p:cNvPr>
          <p:cNvCxnSpPr>
            <a:stCxn id="31" idx="2"/>
            <a:endCxn id="41" idx="0"/>
          </p:cNvCxnSpPr>
          <p:nvPr/>
        </p:nvCxnSpPr>
        <p:spPr>
          <a:xfrm>
            <a:off x="10363892" y="2824917"/>
            <a:ext cx="1" cy="114665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B2A637E-79FD-C42D-6A3C-83D7BE3B6D87}"/>
              </a:ext>
            </a:extLst>
          </p:cNvPr>
          <p:cNvSpPr txBox="1"/>
          <p:nvPr/>
        </p:nvSpPr>
        <p:spPr>
          <a:xfrm>
            <a:off x="10325370" y="3253651"/>
            <a:ext cx="1367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err="1">
                <a:latin typeface="TT Norms Regular"/>
                <a:cs typeface="Calibri"/>
              </a:rPr>
              <a:t>Equal?</a:t>
            </a:r>
          </a:p>
          <a:p>
            <a:pPr algn="ctr"/>
            <a:r>
              <a:rPr lang="es-ES" err="1">
                <a:latin typeface="TT Norms Regular"/>
                <a:cs typeface="Calibri"/>
              </a:rPr>
              <a:t>Valid</a:t>
            </a:r>
            <a:endParaRPr lang="es-ES">
              <a:latin typeface="TT Norms Regular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5941682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6" name="Title 14">
            <a:extLst>
              <a:ext uri="{FF2B5EF4-FFF2-40B4-BE49-F238E27FC236}">
                <a16:creationId xmlns:a16="http://schemas.microsoft.com/office/drawing/2014/main" id="{1950E678-3C48-3E09-DA10-94C23572C9D9}"/>
              </a:ext>
            </a:extLst>
          </p:cNvPr>
          <p:cNvSpPr txBox="1"/>
          <p:nvPr/>
        </p:nvSpPr>
        <p:spPr>
          <a:xfrm>
            <a:off x="292554" y="819948"/>
            <a:ext cx="8250555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>
                <a:latin typeface="TT Norms Bold"/>
                <a:cs typeface="Arial"/>
                <a:sym typeface="Arial"/>
              </a:rPr>
              <a:t>DID: Decentralized Identifiers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3781B6-E6C0-16DF-7C2E-15EA94ED0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85" y="2219232"/>
            <a:ext cx="5650629" cy="337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82841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6" name="Title 14">
            <a:extLst>
              <a:ext uri="{FF2B5EF4-FFF2-40B4-BE49-F238E27FC236}">
                <a16:creationId xmlns:a16="http://schemas.microsoft.com/office/drawing/2014/main" id="{1950E678-3C48-3E09-DA10-94C23572C9D9}"/>
              </a:ext>
            </a:extLst>
          </p:cNvPr>
          <p:cNvSpPr txBox="1"/>
          <p:nvPr/>
        </p:nvSpPr>
        <p:spPr>
          <a:xfrm>
            <a:off x="292554" y="819948"/>
            <a:ext cx="8250555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>
                <a:latin typeface="TT Norms Bold"/>
                <a:cs typeface="Arial"/>
                <a:sym typeface="Arial"/>
              </a:rPr>
              <a:t>DID documents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C0AD0C-8005-ADBC-63EC-7E45E08B1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14" y="1524000"/>
            <a:ext cx="4584171" cy="518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55614"/>
      </p:ext>
    </p:extLst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4D2D8250-D326-B149-BB7B-9D9E06DB2A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0426" r="6197" b="10426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5CDD759-BE97-2EA1-8317-3C3D7E04673C}"/>
              </a:ext>
            </a:extLst>
          </p:cNvPr>
          <p:cNvSpPr txBox="1"/>
          <p:nvPr/>
        </p:nvSpPr>
        <p:spPr>
          <a:xfrm>
            <a:off x="501943" y="3094293"/>
            <a:ext cx="3847987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500">
                <a:solidFill>
                  <a:schemeClr val="bg1"/>
                </a:solidFill>
                <a:latin typeface="TT Norms Regular" panose="02000503030000020003" pitchFamily="2" charset="77"/>
                <a:cs typeface="Poppins SemiBold" panose="00000700000000000000" pitchFamily="50" charset="0"/>
              </a:rPr>
              <a:t>Components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8D77F46-8488-8BD8-177F-0D641E2A41F2}"/>
              </a:ext>
            </a:extLst>
          </p:cNvPr>
          <p:cNvSpPr txBox="1"/>
          <p:nvPr/>
        </p:nvSpPr>
        <p:spPr>
          <a:xfrm>
            <a:off x="10569388" y="114822"/>
            <a:ext cx="1280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bg1"/>
                </a:solidFill>
                <a:latin typeface="TT Norms Regular" panose="02000503030000020003" pitchFamily="2" charset="77"/>
              </a:rPr>
              <a:t>Always be yourself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1D16D4B6-1C61-B3E5-7460-D0E12FDB42A8}"/>
              </a:ext>
            </a:extLst>
          </p:cNvPr>
          <p:cNvSpPr txBox="1"/>
          <p:nvPr/>
        </p:nvSpPr>
        <p:spPr>
          <a:xfrm>
            <a:off x="6067201" y="114822"/>
            <a:ext cx="121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TT Norms Regular" panose="02000503030000020003" pitchFamily="2" charset="77"/>
              </a:rPr>
              <a:t>VIDidentity 2024</a:t>
            </a:r>
          </a:p>
        </p:txBody>
      </p:sp>
    </p:spTree>
    <p:extLst>
      <p:ext uri="{BB962C8B-B14F-4D97-AF65-F5344CB8AC3E}">
        <p14:creationId xmlns:p14="http://schemas.microsoft.com/office/powerpoint/2010/main" val="3182603832"/>
      </p:ext>
    </p:ext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29" name="Rectangle 11">
            <a:extLst>
              <a:ext uri="{FF2B5EF4-FFF2-40B4-BE49-F238E27FC236}">
                <a16:creationId xmlns:a16="http://schemas.microsoft.com/office/drawing/2014/main" id="{78A478B4-90F1-D587-7F27-EE503618659C}"/>
              </a:ext>
            </a:extLst>
          </p:cNvPr>
          <p:cNvSpPr/>
          <p:nvPr/>
        </p:nvSpPr>
        <p:spPr>
          <a:xfrm>
            <a:off x="5820957" y="2652061"/>
            <a:ext cx="5880101" cy="2358106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4378837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</a:rPr>
              <a:t>KosovoW</a:t>
            </a:r>
            <a:r>
              <a:rPr lang="es-ES" sz="4000" kern="0" err="1">
                <a:latin typeface="TT Norms Bold"/>
                <a:cs typeface="Arial"/>
                <a:sym typeface="Arial"/>
              </a:rPr>
              <a:t>allet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535D956-6C1C-3E60-D02C-60DF09BA31DB}"/>
              </a:ext>
            </a:extLst>
          </p:cNvPr>
          <p:cNvSpPr txBox="1"/>
          <p:nvPr/>
        </p:nvSpPr>
        <p:spPr>
          <a:xfrm>
            <a:off x="6313255" y="2969780"/>
            <a:ext cx="408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A wallet for Kosovo citizens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9199485-F59E-0C38-D589-69071B82B7AD}"/>
              </a:ext>
            </a:extLst>
          </p:cNvPr>
          <p:cNvSpPr txBox="1"/>
          <p:nvPr/>
        </p:nvSpPr>
        <p:spPr>
          <a:xfrm>
            <a:off x="6340431" y="3460213"/>
            <a:ext cx="4945877" cy="1190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Receive, maintain, manage and present credentials.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Sort credentials into categories.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Search credentials by name, type….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Use PIN or biometrics to protect access to your data.</a:t>
            </a:r>
            <a:endParaRPr lang="en-GB">
              <a:latin typeface="TT Norms Regular"/>
              <a:ea typeface="Calibri"/>
              <a:cs typeface="Calibri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C194FCC-33CD-333D-763C-0E97FB522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5" t="16850" r="23548" b="12040"/>
          <a:stretch>
            <a:fillRect/>
          </a:stretch>
        </p:blipFill>
        <p:spPr bwMode="auto">
          <a:xfrm>
            <a:off x="490942" y="1918708"/>
            <a:ext cx="4786554" cy="409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97440"/>
      </p:ext>
    </p:extLst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29" name="Rectangle 11">
            <a:extLst>
              <a:ext uri="{FF2B5EF4-FFF2-40B4-BE49-F238E27FC236}">
                <a16:creationId xmlns:a16="http://schemas.microsoft.com/office/drawing/2014/main" id="{78A478B4-90F1-D587-7F27-EE503618659C}"/>
              </a:ext>
            </a:extLst>
          </p:cNvPr>
          <p:cNvSpPr/>
          <p:nvPr/>
        </p:nvSpPr>
        <p:spPr>
          <a:xfrm>
            <a:off x="5820957" y="2652061"/>
            <a:ext cx="5880101" cy="2358106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305617" y="931440"/>
            <a:ext cx="4378837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VIDconnect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535D956-6C1C-3E60-D02C-60DF09BA31DB}"/>
              </a:ext>
            </a:extLst>
          </p:cNvPr>
          <p:cNvSpPr txBox="1"/>
          <p:nvPr/>
        </p:nvSpPr>
        <p:spPr>
          <a:xfrm>
            <a:off x="6313255" y="2969780"/>
            <a:ext cx="515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Citizen credential presentations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84A0EFD-CD47-AF99-35DC-434DDAC1D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3" t="22222" r="2128" b="21715"/>
          <a:stretch>
            <a:fillRect/>
          </a:stretch>
        </p:blipFill>
        <p:spPr>
          <a:xfrm>
            <a:off x="721777" y="2582940"/>
            <a:ext cx="4510881" cy="263956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DE3CFE1-45A8-AAE5-FD7F-A8C3E594B229}"/>
              </a:ext>
            </a:extLst>
          </p:cNvPr>
          <p:cNvSpPr txBox="1"/>
          <p:nvPr/>
        </p:nvSpPr>
        <p:spPr>
          <a:xfrm>
            <a:off x="6340431" y="3460213"/>
            <a:ext cx="4945877" cy="1190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Receive, maintain, manage and present credentials.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Sort credentials into categories.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Search credentials by name, type….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Use PIN or biometrics to protect access to your data.</a:t>
            </a:r>
            <a:endParaRPr lang="en-GB">
              <a:latin typeface="TT Norms Regular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9880115"/>
      </p:ext>
    </p:extLst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4D2D8250-D326-B149-BB7B-9D9E06DB2A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828" b="7828"/>
          <a:stretch>
            <a:fillRect/>
          </a:stretch>
        </p:blipFill>
        <p:spPr/>
      </p:pic>
      <p:sp>
        <p:nvSpPr>
          <p:cNvPr id="2" name="TextBox 27">
            <a:extLst>
              <a:ext uri="{FF2B5EF4-FFF2-40B4-BE49-F238E27FC236}">
                <a16:creationId xmlns:a16="http://schemas.microsoft.com/office/drawing/2014/main" id="{32EC798E-8841-9392-D650-ABF11C96BB2C}"/>
              </a:ext>
            </a:extLst>
          </p:cNvPr>
          <p:cNvSpPr txBox="1"/>
          <p:nvPr/>
        </p:nvSpPr>
        <p:spPr>
          <a:xfrm>
            <a:off x="593383" y="2956679"/>
            <a:ext cx="719594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>
                <a:solidFill>
                  <a:schemeClr val="bg1"/>
                </a:solidFill>
                <a:latin typeface="TT Norms Regular" panose="02000503030000020003" pitchFamily="2" charset="77"/>
                <a:cs typeface="Poppins SemiBold" panose="00000700000000000000" pitchFamily="50" charset="0"/>
              </a:rPr>
              <a:t>Inspect the integration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58C177E-C581-CDE5-FA76-90A65A8B1835}"/>
              </a:ext>
            </a:extLst>
          </p:cNvPr>
          <p:cNvSpPr txBox="1"/>
          <p:nvPr/>
        </p:nvSpPr>
        <p:spPr>
          <a:xfrm>
            <a:off x="10569388" y="114822"/>
            <a:ext cx="1280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bg1"/>
                </a:solidFill>
                <a:latin typeface="TT Norms Regular" panose="02000503030000020003" pitchFamily="2" charset="77"/>
              </a:rPr>
              <a:t>Always be yourself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2A96BC3-A417-3ACE-4EF9-6414334D22AE}"/>
              </a:ext>
            </a:extLst>
          </p:cNvPr>
          <p:cNvSpPr txBox="1"/>
          <p:nvPr/>
        </p:nvSpPr>
        <p:spPr>
          <a:xfrm>
            <a:off x="310187" y="122256"/>
            <a:ext cx="933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TT Norms Regular" panose="02000503030000020003" pitchFamily="2" charset="77"/>
              </a:rPr>
              <a:t>Validated ID</a:t>
            </a:r>
          </a:p>
        </p:txBody>
      </p:sp>
      <p:sp>
        <p:nvSpPr>
          <p:cNvPr id="6" name="TextBox 21">
            <a:extLst>
              <a:ext uri="{FF2B5EF4-FFF2-40B4-BE49-F238E27FC236}">
                <a16:creationId xmlns:a16="http://schemas.microsoft.com/office/drawing/2014/main" id="{E5DFEDD0-9329-A39E-D399-0787C74F30AB}"/>
              </a:ext>
            </a:extLst>
          </p:cNvPr>
          <p:cNvSpPr txBox="1"/>
          <p:nvPr/>
        </p:nvSpPr>
        <p:spPr>
          <a:xfrm>
            <a:off x="6067201" y="114822"/>
            <a:ext cx="121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TT Norms Regular" panose="02000503030000020003" pitchFamily="2" charset="77"/>
              </a:rPr>
              <a:t>VIDidentity 2024</a:t>
            </a:r>
          </a:p>
        </p:txBody>
      </p:sp>
    </p:spTree>
    <p:extLst>
      <p:ext uri="{BB962C8B-B14F-4D97-AF65-F5344CB8AC3E}">
        <p14:creationId xmlns:p14="http://schemas.microsoft.com/office/powerpoint/2010/main" val="1009351446"/>
      </p:ext>
    </p:extLst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29" name="Rectangle 11">
            <a:extLst>
              <a:ext uri="{FF2B5EF4-FFF2-40B4-BE49-F238E27FC236}">
                <a16:creationId xmlns:a16="http://schemas.microsoft.com/office/drawing/2014/main" id="{78A478B4-90F1-D587-7F27-EE503618659C}"/>
              </a:ext>
            </a:extLst>
          </p:cNvPr>
          <p:cNvSpPr/>
          <p:nvPr/>
        </p:nvSpPr>
        <p:spPr>
          <a:xfrm>
            <a:off x="5820957" y="2652061"/>
            <a:ext cx="5880101" cy="2358106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4378837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</a:rPr>
              <a:t>KosovoW</a:t>
            </a:r>
            <a:r>
              <a:rPr lang="es-ES" sz="4000" kern="0" err="1">
                <a:latin typeface="TT Norms Bold"/>
                <a:cs typeface="Arial"/>
                <a:sym typeface="Arial"/>
              </a:rPr>
              <a:t>allet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535D956-6C1C-3E60-D02C-60DF09BA31DB}"/>
              </a:ext>
            </a:extLst>
          </p:cNvPr>
          <p:cNvSpPr txBox="1"/>
          <p:nvPr/>
        </p:nvSpPr>
        <p:spPr>
          <a:xfrm>
            <a:off x="6313255" y="2969780"/>
            <a:ext cx="408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Installation</a:t>
            </a:r>
            <a:endParaRPr lang="es" sz="2000" b="1" u="none" strike="noStrike">
              <a:solidFill>
                <a:srgbClr val="151A35"/>
              </a:solidFill>
              <a:highlight>
                <a:srgbClr val="000000">
                  <a:alpha val="0"/>
                </a:srgbClr>
              </a:highlight>
              <a:latin typeface="TT Norms Bold" panose="02000503030000020003" pitchFamily="2" charset="77"/>
              <a:ea typeface="Poppins"/>
              <a:cs typeface="Poppins" panose="02000000000000000000" charset="0"/>
              <a:sym typeface="Poppins" panose="02000000000000000000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9199485-F59E-0C38-D589-69071B82B7AD}"/>
              </a:ext>
            </a:extLst>
          </p:cNvPr>
          <p:cNvSpPr txBox="1"/>
          <p:nvPr/>
        </p:nvSpPr>
        <p:spPr>
          <a:xfrm>
            <a:off x="6340432" y="3460213"/>
            <a:ext cx="5115694" cy="1190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iOS – Install ipa</a:t>
            </a:r>
            <a:endParaRPr lang="en-GB">
              <a:latin typeface="TT Norms Regular"/>
              <a:ea typeface="Calibri"/>
              <a:cs typeface="Calibri"/>
              <a:sym typeface="Calibri"/>
            </a:endParaRP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Android – Install apk</a:t>
            </a:r>
            <a:endParaRPr lang="en-GB">
              <a:latin typeface="TT Norms Regular"/>
              <a:ea typeface="Calibri"/>
              <a:cs typeface="Calibri"/>
              <a:sym typeface="Calibri"/>
            </a:endParaRP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Send dummy email to </a:t>
            </a:r>
            <a:r>
              <a:rPr lang="en-GB">
                <a:latin typeface="TT Norms Regular"/>
                <a:ea typeface="Calibri"/>
                <a:cs typeface="Calibri"/>
                <a:sym typeface="Calibri"/>
                <a:hlinkClick r:id="rId3"/>
              </a:rPr>
              <a:t>mauro.lucchini@validatedid.com</a:t>
            </a:r>
            <a:endParaRPr lang="en-GB">
              <a:latin typeface="TT Norms Regular"/>
              <a:ea typeface="Calibri"/>
              <a:cs typeface="Calibri"/>
              <a:sym typeface="Calibri"/>
            </a:endParaRP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Dummy issuance</a:t>
            </a:r>
            <a:endParaRPr lang="en-GB">
              <a:latin typeface="TT Norms Regular"/>
              <a:ea typeface="Calibri"/>
              <a:cs typeface="Calibri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C194FCC-33CD-333D-763C-0E97FB522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5" t="16850" r="23548" b="12040"/>
          <a:stretch>
            <a:fillRect/>
          </a:stretch>
        </p:blipFill>
        <p:spPr bwMode="auto">
          <a:xfrm>
            <a:off x="490942" y="1918708"/>
            <a:ext cx="4786554" cy="409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756371"/>
      </p:ext>
    </p:extLst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29" name="Rectangle 11">
            <a:extLst>
              <a:ext uri="{FF2B5EF4-FFF2-40B4-BE49-F238E27FC236}">
                <a16:creationId xmlns:a16="http://schemas.microsoft.com/office/drawing/2014/main" id="{78A478B4-90F1-D587-7F27-EE503618659C}"/>
              </a:ext>
            </a:extLst>
          </p:cNvPr>
          <p:cNvSpPr/>
          <p:nvPr/>
        </p:nvSpPr>
        <p:spPr>
          <a:xfrm>
            <a:off x="5820957" y="2652061"/>
            <a:ext cx="5880101" cy="2358106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4378837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VIDconnect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535D956-6C1C-3E60-D02C-60DF09BA31DB}"/>
              </a:ext>
            </a:extLst>
          </p:cNvPr>
          <p:cNvSpPr txBox="1"/>
          <p:nvPr/>
        </p:nvSpPr>
        <p:spPr>
          <a:xfrm>
            <a:off x="6313255" y="2969780"/>
            <a:ext cx="515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Check integration example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84A0EFD-CD47-AF99-35DC-434DDAC1D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3" t="22222" r="2128" b="21715"/>
          <a:stretch>
            <a:fillRect/>
          </a:stretch>
        </p:blipFill>
        <p:spPr>
          <a:xfrm>
            <a:off x="721777" y="2582940"/>
            <a:ext cx="4510881" cy="263956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B1F4B40-9952-AC9B-1316-35F8FA546983}"/>
              </a:ext>
            </a:extLst>
          </p:cNvPr>
          <p:cNvSpPr txBox="1"/>
          <p:nvPr/>
        </p:nvSpPr>
        <p:spPr>
          <a:xfrm>
            <a:off x="6340431" y="3460213"/>
            <a:ext cx="4945877" cy="1190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Client id – Set with your name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Configure default scope</a:t>
            </a: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Configure default redirect_uri</a:t>
            </a:r>
            <a:endParaRPr lang="en-GB">
              <a:latin typeface="TT Norms Regular"/>
              <a:ea typeface="Calibri"/>
              <a:cs typeface="Calibri"/>
              <a:sym typeface="Calibri"/>
            </a:endParaRPr>
          </a:p>
          <a:p>
            <a:pPr marL="171450" lvl="1" indent="-1714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T Norms Regular"/>
                <a:ea typeface="Calibri"/>
                <a:cs typeface="Calibri"/>
                <a:sym typeface="Calibri"/>
              </a:rPr>
              <a:t>Contact administrator</a:t>
            </a:r>
          </a:p>
        </p:txBody>
      </p:sp>
    </p:spTree>
    <p:extLst>
      <p:ext uri="{BB962C8B-B14F-4D97-AF65-F5344CB8AC3E}">
        <p14:creationId xmlns:p14="http://schemas.microsoft.com/office/powerpoint/2010/main" val="3367844076"/>
      </p:ext>
    </p:extLst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11" name="Rectangle 11">
            <a:extLst>
              <a:ext uri="{FF2B5EF4-FFF2-40B4-BE49-F238E27FC236}">
                <a16:creationId xmlns:a16="http://schemas.microsoft.com/office/drawing/2014/main" id="{9863E2C1-567C-7DD3-8DDA-E0725607A45B}"/>
              </a:ext>
            </a:extLst>
          </p:cNvPr>
          <p:cNvSpPr/>
          <p:nvPr/>
        </p:nvSpPr>
        <p:spPr>
          <a:xfrm>
            <a:off x="2770070" y="1812346"/>
            <a:ext cx="2811545" cy="440218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78A478B4-90F1-D587-7F27-EE503618659C}"/>
              </a:ext>
            </a:extLst>
          </p:cNvPr>
          <p:cNvSpPr/>
          <p:nvPr/>
        </p:nvSpPr>
        <p:spPr>
          <a:xfrm>
            <a:off x="8126162" y="3204338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7009583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Redirect user to VIDconnect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535D956-6C1C-3E60-D02C-60DF09BA31DB}"/>
              </a:ext>
            </a:extLst>
          </p:cNvPr>
          <p:cNvSpPr txBox="1"/>
          <p:nvPr/>
        </p:nvSpPr>
        <p:spPr>
          <a:xfrm>
            <a:off x="8560671" y="3535120"/>
            <a:ext cx="1681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VIDconnect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BA848FE-6973-B132-E3DE-CAA41F25DEF1}"/>
              </a:ext>
            </a:extLst>
          </p:cNvPr>
          <p:cNvSpPr/>
          <p:nvPr/>
        </p:nvSpPr>
        <p:spPr>
          <a:xfrm>
            <a:off x="2983007" y="2551345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0B3BAF82-08DC-0F2F-4712-6FDFB8EC42E5}"/>
              </a:ext>
            </a:extLst>
          </p:cNvPr>
          <p:cNvSpPr txBox="1"/>
          <p:nvPr/>
        </p:nvSpPr>
        <p:spPr>
          <a:xfrm>
            <a:off x="3163156" y="2728239"/>
            <a:ext cx="2074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Kosovo verifier frontend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B6543551-2916-C240-AA02-3D0A9AF273E4}"/>
              </a:ext>
            </a:extLst>
          </p:cNvPr>
          <p:cNvSpPr/>
          <p:nvPr/>
        </p:nvSpPr>
        <p:spPr>
          <a:xfrm>
            <a:off x="2958458" y="4891411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7CDFE1A8-6D1E-3DEE-630B-21E0034BDF37}"/>
              </a:ext>
            </a:extLst>
          </p:cNvPr>
          <p:cNvSpPr txBox="1"/>
          <p:nvPr/>
        </p:nvSpPr>
        <p:spPr>
          <a:xfrm>
            <a:off x="3138607" y="5072894"/>
            <a:ext cx="2074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Kosovo verifier backend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CC1CAF61-BBC4-5349-F237-F14D51C08401}"/>
              </a:ext>
            </a:extLst>
          </p:cNvPr>
          <p:cNvSpPr txBox="1"/>
          <p:nvPr/>
        </p:nvSpPr>
        <p:spPr>
          <a:xfrm>
            <a:off x="2869557" y="1984430"/>
            <a:ext cx="2811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Integration example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60D23F4C-7BB9-3FF3-8FB3-DA07FED8A39E}"/>
              </a:ext>
            </a:extLst>
          </p:cNvPr>
          <p:cNvCxnSpPr>
            <a:endCxn id="29" idx="1"/>
          </p:cNvCxnSpPr>
          <p:nvPr/>
        </p:nvCxnSpPr>
        <p:spPr>
          <a:xfrm>
            <a:off x="5417775" y="3091457"/>
            <a:ext cx="2708387" cy="648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AD91F5A4-3974-DD98-6E88-5C21CCF5883A}"/>
              </a:ext>
            </a:extLst>
          </p:cNvPr>
          <p:cNvCxnSpPr/>
          <p:nvPr/>
        </p:nvCxnSpPr>
        <p:spPr>
          <a:xfrm flipH="1" flipV="1">
            <a:off x="5393226" y="3471018"/>
            <a:ext cx="2732936" cy="639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E27A8A5-E686-FA75-F7F3-1F8CD7C19E01}"/>
              </a:ext>
            </a:extLst>
          </p:cNvPr>
          <p:cNvSpPr txBox="1"/>
          <p:nvPr/>
        </p:nvSpPr>
        <p:spPr>
          <a:xfrm>
            <a:off x="6242469" y="3851302"/>
            <a:ext cx="1007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err="1"/>
              <a:t>redirect</a:t>
            </a:r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D214EEE-318D-4ED0-8BD3-CFA9E9279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102" y="4313424"/>
            <a:ext cx="2688776" cy="1306463"/>
          </a:xfrm>
          <a:prstGeom prst="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C0E3841-9259-1D90-56BB-71AF1E99C450}"/>
              </a:ext>
            </a:extLst>
          </p:cNvPr>
          <p:cNvSpPr txBox="1"/>
          <p:nvPr/>
        </p:nvSpPr>
        <p:spPr>
          <a:xfrm>
            <a:off x="6294721" y="2971867"/>
            <a:ext cx="2434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POST /oauth2/auth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078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7009583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Redirect user to VIDconnect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ADE9E9E-4537-5421-6133-DBF9328A5842}"/>
              </a:ext>
            </a:extLst>
          </p:cNvPr>
          <p:cNvSpPr txBox="1"/>
          <p:nvPr/>
        </p:nvSpPr>
        <p:spPr>
          <a:xfrm>
            <a:off x="4112070" y="2640606"/>
            <a:ext cx="433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err="1">
                <a:effectLst/>
              </a:rPr>
              <a:t>curl -L -X POST </a:t>
            </a:r>
            <a:r>
              <a:rPr lang="es-ES">
                <a:effectLst/>
                <a:hlinkClick r:id="rId3"/>
              </a:rPr>
              <a:t>https://staging.vidchain.net/oauth2/auth</a:t>
            </a:r>
            <a:r>
              <a:rPr lang="es-ES">
                <a:effectLst/>
              </a:rPr>
              <a:t>?</a:t>
            </a:r>
          </a:p>
          <a:p>
            <a:r>
              <a:rPr lang="es-ES" err="1">
                <a:effectLst/>
              </a:rPr>
              <a:t>response_type=code</a:t>
            </a:r>
            <a:endParaRPr lang="es-ES">
              <a:effectLst/>
            </a:endParaRPr>
          </a:p>
          <a:p>
            <a:r>
              <a:rPr lang="es-ES" err="1">
                <a:effectLst/>
              </a:rPr>
              <a:t>state=08bd09b6-8544-4f8b-9aef-bdd6f17db6f7</a:t>
            </a:r>
          </a:p>
          <a:p>
            <a:r>
              <a:rPr lang="es-ES" err="1">
                <a:effectLst/>
              </a:rPr>
              <a:t>redirect_uri=https://kosovo-verifier.com/callback</a:t>
            </a:r>
            <a:endParaRPr lang="es-ES">
              <a:effectLst/>
            </a:endParaRPr>
          </a:p>
          <a:p>
            <a:r>
              <a:rPr lang="es-ES" err="1">
                <a:effectLst/>
              </a:rPr>
              <a:t>client_id=internalTesting</a:t>
            </a:r>
            <a:endParaRPr lang="es-ES">
              <a:effectLst/>
            </a:endParaRPr>
          </a:p>
          <a:p>
            <a:r>
              <a:rPr lang="es-ES" err="1"/>
              <a:t>scope=openid EmailCredential</a:t>
            </a:r>
            <a:endParaRPr lang="es-ES">
              <a:effectLst/>
            </a:endParaRPr>
          </a:p>
          <a:p>
            <a:r>
              <a:rPr lang="es-ES" err="1">
                <a:effectLst/>
              </a:rPr>
              <a:t>nonce=a8d84bc5-1c09-484b-9638-81baf028dfb2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0666103"/>
      </p:ext>
    </p:extLst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11" name="Rectangle 11">
            <a:extLst>
              <a:ext uri="{FF2B5EF4-FFF2-40B4-BE49-F238E27FC236}">
                <a16:creationId xmlns:a16="http://schemas.microsoft.com/office/drawing/2014/main" id="{9863E2C1-567C-7DD3-8DDA-E0725607A45B}"/>
              </a:ext>
            </a:extLst>
          </p:cNvPr>
          <p:cNvSpPr/>
          <p:nvPr/>
        </p:nvSpPr>
        <p:spPr>
          <a:xfrm>
            <a:off x="2770070" y="1812346"/>
            <a:ext cx="2811545" cy="440218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78A478B4-90F1-D587-7F27-EE503618659C}"/>
              </a:ext>
            </a:extLst>
          </p:cNvPr>
          <p:cNvSpPr/>
          <p:nvPr/>
        </p:nvSpPr>
        <p:spPr>
          <a:xfrm>
            <a:off x="8126162" y="3204338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3" y="819948"/>
            <a:ext cx="11437893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Handle callback to get credential</a:t>
            </a:r>
            <a:r>
              <a:rPr lang="es-ES" sz="4000" kern="0">
                <a:latin typeface="TT Norms Bold"/>
                <a:cs typeface="Arial"/>
              </a:rPr>
              <a:t> information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535D956-6C1C-3E60-D02C-60DF09BA31DB}"/>
              </a:ext>
            </a:extLst>
          </p:cNvPr>
          <p:cNvSpPr txBox="1"/>
          <p:nvPr/>
        </p:nvSpPr>
        <p:spPr>
          <a:xfrm>
            <a:off x="8560671" y="3535120"/>
            <a:ext cx="1681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VIDconnect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BA848FE-6973-B132-E3DE-CAA41F25DEF1}"/>
              </a:ext>
            </a:extLst>
          </p:cNvPr>
          <p:cNvSpPr/>
          <p:nvPr/>
        </p:nvSpPr>
        <p:spPr>
          <a:xfrm>
            <a:off x="2983007" y="2551345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0B3BAF82-08DC-0F2F-4712-6FDFB8EC42E5}"/>
              </a:ext>
            </a:extLst>
          </p:cNvPr>
          <p:cNvSpPr txBox="1"/>
          <p:nvPr/>
        </p:nvSpPr>
        <p:spPr>
          <a:xfrm>
            <a:off x="3163156" y="2728239"/>
            <a:ext cx="2074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Kosovo verifier frontend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B6543551-2916-C240-AA02-3D0A9AF273E4}"/>
              </a:ext>
            </a:extLst>
          </p:cNvPr>
          <p:cNvSpPr/>
          <p:nvPr/>
        </p:nvSpPr>
        <p:spPr>
          <a:xfrm>
            <a:off x="2958458" y="4891411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7CDFE1A8-6D1E-3DEE-630B-21E0034BDF37}"/>
              </a:ext>
            </a:extLst>
          </p:cNvPr>
          <p:cNvSpPr txBox="1"/>
          <p:nvPr/>
        </p:nvSpPr>
        <p:spPr>
          <a:xfrm>
            <a:off x="3138607" y="5072894"/>
            <a:ext cx="2074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Kosovo verifier backend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CC1CAF61-BBC4-5349-F237-F14D51C08401}"/>
              </a:ext>
            </a:extLst>
          </p:cNvPr>
          <p:cNvSpPr txBox="1"/>
          <p:nvPr/>
        </p:nvSpPr>
        <p:spPr>
          <a:xfrm>
            <a:off x="2869557" y="1984430"/>
            <a:ext cx="2811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Integration example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AD91F5A4-3974-DD98-6E88-5C21CCF5883A}"/>
              </a:ext>
            </a:extLst>
          </p:cNvPr>
          <p:cNvCxnSpPr>
            <a:stCxn id="29" idx="1"/>
            <a:endCxn id="6" idx="3"/>
          </p:cNvCxnSpPr>
          <p:nvPr/>
        </p:nvCxnSpPr>
        <p:spPr>
          <a:xfrm flipH="1" flipV="1">
            <a:off x="5417775" y="3086772"/>
            <a:ext cx="2708387" cy="652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0E3841-9259-1D90-56BB-71AF1E99C450}"/>
              </a:ext>
            </a:extLst>
          </p:cNvPr>
          <p:cNvSpPr txBox="1"/>
          <p:nvPr/>
        </p:nvSpPr>
        <p:spPr>
          <a:xfrm rot="815353">
            <a:off x="5732657" y="2880515"/>
            <a:ext cx="2434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err="1"/>
              <a:t>Redirect redirect_uri</a:t>
            </a:r>
            <a:endParaRPr lang="es-ES"/>
          </a:p>
          <a:p>
            <a:pPr algn="ctr"/>
            <a:r>
              <a:rPr lang="es-ES"/>
              <a:t>{code}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10371D2-C020-43F8-9EB7-16D463B0D04E}"/>
              </a:ext>
            </a:extLst>
          </p:cNvPr>
          <p:cNvCxnSpPr>
            <a:endCxn id="8" idx="0"/>
          </p:cNvCxnSpPr>
          <p:nvPr/>
        </p:nvCxnSpPr>
        <p:spPr>
          <a:xfrm flipH="1">
            <a:off x="4175842" y="3622198"/>
            <a:ext cx="0" cy="1269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9B5EC2D-9855-1877-618C-006ED1B92A68}"/>
              </a:ext>
            </a:extLst>
          </p:cNvPr>
          <p:cNvSpPr txBox="1"/>
          <p:nvPr/>
        </p:nvSpPr>
        <p:spPr>
          <a:xfrm>
            <a:off x="4197468" y="4033502"/>
            <a:ext cx="2434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err="1"/>
              <a:t>Send {code}</a:t>
            </a:r>
          </a:p>
          <a:p>
            <a:r>
              <a:rPr lang="es-ES" err="1"/>
              <a:t>to backend</a:t>
            </a:r>
            <a:endParaRPr lang="es-ES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FA3495F-82A5-4EB5-AEFE-04647A4525E6}"/>
              </a:ext>
            </a:extLst>
          </p:cNvPr>
          <p:cNvCxnSpPr>
            <a:stCxn id="8" idx="3"/>
          </p:cNvCxnSpPr>
          <p:nvPr/>
        </p:nvCxnSpPr>
        <p:spPr>
          <a:xfrm flipV="1">
            <a:off x="5393226" y="4033502"/>
            <a:ext cx="2732936" cy="1393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8A1FBB-21E5-87DE-1861-506E0C794E09}"/>
              </a:ext>
            </a:extLst>
          </p:cNvPr>
          <p:cNvSpPr txBox="1"/>
          <p:nvPr/>
        </p:nvSpPr>
        <p:spPr>
          <a:xfrm rot="20027448">
            <a:off x="5770002" y="4048831"/>
            <a:ext cx="2434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POST /oauth2/token</a:t>
            </a:r>
          </a:p>
          <a:p>
            <a:r>
              <a:rPr lang="es-ES"/>
              <a:t>{code, client_secret}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E649264-E695-DADC-7DEB-7D0D3A80AD7A}"/>
              </a:ext>
            </a:extLst>
          </p:cNvPr>
          <p:cNvCxnSpPr/>
          <p:nvPr/>
        </p:nvCxnSpPr>
        <p:spPr>
          <a:xfrm flipH="1">
            <a:off x="5393226" y="4324430"/>
            <a:ext cx="2940877" cy="145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3DFA4EA-AA3B-80B2-A84D-822D11812314}"/>
              </a:ext>
            </a:extLst>
          </p:cNvPr>
          <p:cNvSpPr txBox="1"/>
          <p:nvPr/>
        </p:nvSpPr>
        <p:spPr>
          <a:xfrm rot="19880088">
            <a:off x="6648910" y="4904228"/>
            <a:ext cx="911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err="1"/>
              <a:t>id_token</a:t>
            </a:r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8658BA3-2079-5E0F-6FE7-6F786F9CE7DF}"/>
              </a:ext>
            </a:extLst>
          </p:cNvPr>
          <p:cNvSpPr txBox="1"/>
          <p:nvPr/>
        </p:nvSpPr>
        <p:spPr>
          <a:xfrm>
            <a:off x="3000472" y="6226736"/>
            <a:ext cx="2669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err="1"/>
              <a:t>Decode JWT</a:t>
            </a:r>
          </a:p>
          <a:p>
            <a:pPr algn="ctr"/>
            <a:r>
              <a:rPr lang="es-ES" err="1"/>
              <a:t>Parse Verifiable Presentation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4809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0" grpId="1"/>
      <p:bldP spid="24" grpId="2"/>
      <p:bldP spid="28" grpId="3"/>
      <p:bldP spid="31" grpId="4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11268075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Handle callback to get credential</a:t>
            </a:r>
            <a:r>
              <a:rPr lang="es-ES" sz="4000" kern="0">
                <a:latin typeface="TT Norms Bold"/>
                <a:cs typeface="Arial"/>
              </a:rPr>
              <a:t> information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ADE9E9E-4537-5421-6133-DBF9328A5842}"/>
              </a:ext>
            </a:extLst>
          </p:cNvPr>
          <p:cNvSpPr txBox="1"/>
          <p:nvPr/>
        </p:nvSpPr>
        <p:spPr>
          <a:xfrm>
            <a:off x="3759372" y="2745109"/>
            <a:ext cx="56328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err="1">
                <a:effectLst/>
              </a:rPr>
              <a:t>curl -L -X POST 'https://staging.vidchain.net/oauth2/token’ \</a:t>
            </a:r>
          </a:p>
          <a:p>
            <a:r>
              <a:rPr lang="es-ES">
                <a:effectLst/>
              </a:rPr>
              <a:t> -H 'Content-Type: application/x-www-form-urlencoded’ \ </a:t>
            </a:r>
          </a:p>
          <a:p>
            <a:r>
              <a:rPr lang="es-ES"/>
              <a:t> -H 'Accept: application/json’ \ </a:t>
            </a:r>
          </a:p>
          <a:p>
            <a:r>
              <a:rPr lang="es-ES"/>
              <a:t> --data-urlencode 'code=ee4adbeb-5327-4398-974f-24749cdcd03f’ \</a:t>
            </a:r>
          </a:p>
          <a:p>
            <a:r>
              <a:rPr lang="es-ES">
                <a:effectLst/>
              </a:rPr>
              <a:t> --data-urlencode 'client_id=KosovoExampleEntity’ \</a:t>
            </a:r>
          </a:p>
          <a:p>
            <a:r>
              <a:rPr lang="es-ES"/>
              <a:t> --data-urlencode 'client_secret=hw_~._qhncWOZG6OcHdv_iVges’ \</a:t>
            </a:r>
          </a:p>
          <a:p>
            <a:r>
              <a:rPr lang="es-ES"/>
              <a:t> --data-urlencode 'redirect_uri=https://kosovo-verifier.com/callback’ \</a:t>
            </a:r>
          </a:p>
          <a:p>
            <a:r>
              <a:rPr lang="es-ES"/>
              <a:t> --data-urlencode 'grant_type=authorization_code'</a:t>
            </a:r>
          </a:p>
          <a:p>
            <a:endParaRPr lang="es-E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6849544"/>
      </p:ext>
    </p:extLst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11" name="Rectangle 11">
            <a:extLst>
              <a:ext uri="{FF2B5EF4-FFF2-40B4-BE49-F238E27FC236}">
                <a16:creationId xmlns:a16="http://schemas.microsoft.com/office/drawing/2014/main" id="{9863E2C1-567C-7DD3-8DDA-E0725607A45B}"/>
              </a:ext>
            </a:extLst>
          </p:cNvPr>
          <p:cNvSpPr/>
          <p:nvPr/>
        </p:nvSpPr>
        <p:spPr>
          <a:xfrm>
            <a:off x="3867350" y="1757235"/>
            <a:ext cx="2811545" cy="440218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78A478B4-90F1-D587-7F27-EE503618659C}"/>
              </a:ext>
            </a:extLst>
          </p:cNvPr>
          <p:cNvSpPr/>
          <p:nvPr/>
        </p:nvSpPr>
        <p:spPr>
          <a:xfrm>
            <a:off x="8126162" y="3365363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6386341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Integration examples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535D956-6C1C-3E60-D02C-60DF09BA31DB}"/>
              </a:ext>
            </a:extLst>
          </p:cNvPr>
          <p:cNvSpPr txBox="1"/>
          <p:nvPr/>
        </p:nvSpPr>
        <p:spPr>
          <a:xfrm>
            <a:off x="8560671" y="3696145"/>
            <a:ext cx="1681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VIDconnect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BA848FE-6973-B132-E3DE-CAA41F25DEF1}"/>
              </a:ext>
            </a:extLst>
          </p:cNvPr>
          <p:cNvSpPr/>
          <p:nvPr/>
        </p:nvSpPr>
        <p:spPr>
          <a:xfrm>
            <a:off x="4080287" y="2496234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0B3BAF82-08DC-0F2F-4712-6FDFB8EC42E5}"/>
              </a:ext>
            </a:extLst>
          </p:cNvPr>
          <p:cNvSpPr txBox="1"/>
          <p:nvPr/>
        </p:nvSpPr>
        <p:spPr>
          <a:xfrm>
            <a:off x="4260436" y="2673128"/>
            <a:ext cx="2074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Kosovo verifier frontend</a:t>
            </a:r>
          </a:p>
        </p:txBody>
      </p:sp>
      <p:pic>
        <p:nvPicPr>
          <p:cNvPr id="12290" name="Picture 2" descr="React Logo Icon">
            <a:extLst>
              <a:ext uri="{FF2B5EF4-FFF2-40B4-BE49-F238E27FC236}">
                <a16:creationId xmlns:a16="http://schemas.microsoft.com/office/drawing/2014/main" id="{2F8F3A31-8C37-15BB-7A71-2095BAA0D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5691" y="3377674"/>
            <a:ext cx="582376" cy="52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B6543551-2916-C240-AA02-3D0A9AF273E4}"/>
              </a:ext>
            </a:extLst>
          </p:cNvPr>
          <p:cNvSpPr/>
          <p:nvPr/>
        </p:nvSpPr>
        <p:spPr>
          <a:xfrm>
            <a:off x="4080287" y="4107911"/>
            <a:ext cx="2434768" cy="1070853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7CDFE1A8-6D1E-3DEE-630B-21E0034BDF37}"/>
              </a:ext>
            </a:extLst>
          </p:cNvPr>
          <p:cNvSpPr txBox="1"/>
          <p:nvPr/>
        </p:nvSpPr>
        <p:spPr>
          <a:xfrm>
            <a:off x="4260436" y="4284805"/>
            <a:ext cx="2074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Kosovo verifier backend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C731632-60C2-A926-AD58-BE03E02FA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81937" y="5149142"/>
            <a:ext cx="923738" cy="92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Microsoft .NET logo">
            <a:extLst>
              <a:ext uri="{FF2B5EF4-FFF2-40B4-BE49-F238E27FC236}">
                <a16:creationId xmlns:a16="http://schemas.microsoft.com/office/drawing/2014/main" id="{0D85E2CE-35EA-8825-6E2C-8A89440C7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5678" y="5367698"/>
            <a:ext cx="486625" cy="4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Node.js new logo">
            <a:extLst>
              <a:ext uri="{FF2B5EF4-FFF2-40B4-BE49-F238E27FC236}">
                <a16:creationId xmlns:a16="http://schemas.microsoft.com/office/drawing/2014/main" id="{7BF470F2-55EB-8791-3153-DB8D57A4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25986" y="5327666"/>
            <a:ext cx="926522" cy="56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CC1CAF61-BBC4-5349-F237-F14D51C08401}"/>
              </a:ext>
            </a:extLst>
          </p:cNvPr>
          <p:cNvSpPr txBox="1"/>
          <p:nvPr/>
        </p:nvSpPr>
        <p:spPr>
          <a:xfrm>
            <a:off x="3966837" y="1929319"/>
            <a:ext cx="2811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Clr>
                <a:schemeClr val="dk1"/>
              </a:buClr>
              <a:buSzPts val="1800"/>
            </a:pPr>
            <a:r>
              <a:rPr lang="es" sz="2000" b="1" u="none" strike="noStrike">
                <a:solidFill>
                  <a:srgbClr val="151A35"/>
                </a:solidFill>
                <a:highlight>
                  <a:srgbClr val="000000">
                    <a:alpha val="0"/>
                  </a:srgbClr>
                </a:highlight>
                <a:latin typeface="TT Norms Bold" panose="02000503030000020003" pitchFamily="2" charset="77"/>
                <a:ea typeface="Poppins"/>
                <a:cs typeface="Poppins"/>
                <a:sym typeface="Poppins"/>
              </a:rPr>
              <a:t>Integration example</a:t>
            </a:r>
          </a:p>
        </p:txBody>
      </p:sp>
    </p:spTree>
    <p:extLst>
      <p:ext uri="{BB962C8B-B14F-4D97-AF65-F5344CB8AC3E}">
        <p14:creationId xmlns:p14="http://schemas.microsoft.com/office/powerpoint/2010/main" val="235697563"/>
      </p:ext>
    </p:extLst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6386341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>
                <a:latin typeface="TT Norms Bold"/>
                <a:cs typeface="Arial"/>
                <a:sym typeface="Arial"/>
              </a:rPr>
              <a:t>Demo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0066506-55F3-4351-79FE-F23C44281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337" y="1524000"/>
            <a:ext cx="8393326" cy="4530288"/>
          </a:xfrm>
          <a:prstGeom prst="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901408"/>
      </p:ext>
    </p:extLst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</a:xfrm>
      </p:grpSpPr>
      <p:sp>
        <p:nvSpPr>
          <p:cNvPr id="18" name="Title 14">
            <a:extLst>
              <a:ext uri="{FF2B5EF4-FFF2-40B4-BE49-F238E27FC236}">
                <a16:creationId xmlns:a16="http://schemas.microsoft.com/office/drawing/2014/main" id="{9BB33876-A9DA-C3A4-BC4E-95A0E1D931C6}"/>
              </a:ext>
            </a:extLst>
          </p:cNvPr>
          <p:cNvSpPr txBox="1"/>
          <p:nvPr/>
        </p:nvSpPr>
        <p:spPr>
          <a:xfrm>
            <a:off x="292554" y="819948"/>
            <a:ext cx="12430669" cy="704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486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s-ES" sz="4000" kern="0" err="1">
                <a:latin typeface="TT Norms Bold"/>
                <a:cs typeface="Arial"/>
                <a:sym typeface="Arial"/>
              </a:rPr>
              <a:t>Integration examples </a:t>
            </a:r>
            <a:r>
              <a:rPr lang="es-ES" sz="4000" kern="0" err="1">
                <a:latin typeface="TT Norms Bold"/>
                <a:cs typeface="Arial"/>
              </a:rPr>
              <a:t>r</a:t>
            </a:r>
            <a:r>
              <a:rPr lang="es-ES" sz="4000" kern="0" err="1">
                <a:latin typeface="TT Norms Bold"/>
                <a:cs typeface="Arial"/>
                <a:sym typeface="Arial"/>
              </a:rPr>
              <a:t>epositories</a:t>
            </a:r>
            <a:endParaRPr lang="es-ES" sz="4000" kern="0">
              <a:latin typeface="TT Norms Bold"/>
              <a:cs typeface="Arial"/>
              <a:sym typeface="Arial"/>
            </a:endParaRPr>
          </a:p>
        </p:txBody>
      </p:sp>
      <p:pic>
        <p:nvPicPr>
          <p:cNvPr id="12290" name="Picture 2" descr="React Logo Icon">
            <a:extLst>
              <a:ext uri="{FF2B5EF4-FFF2-40B4-BE49-F238E27FC236}">
                <a16:creationId xmlns:a16="http://schemas.microsoft.com/office/drawing/2014/main" id="{2F8F3A31-8C37-15BB-7A71-2095BAA0D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12388" y="2056286"/>
            <a:ext cx="582376" cy="52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7C731632-60C2-A926-AD58-BE03E02FA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2892" y="3904577"/>
            <a:ext cx="923738" cy="92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Node.js new logo">
            <a:extLst>
              <a:ext uri="{FF2B5EF4-FFF2-40B4-BE49-F238E27FC236}">
                <a16:creationId xmlns:a16="http://schemas.microsoft.com/office/drawing/2014/main" id="{7BF470F2-55EB-8791-3153-DB8D57A4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2892" y="3047718"/>
            <a:ext cx="926522" cy="56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180085C-A83B-1B24-2FB4-F072111F6BA8}"/>
              </a:ext>
            </a:extLst>
          </p:cNvPr>
          <p:cNvSpPr txBox="1"/>
          <p:nvPr/>
        </p:nvSpPr>
        <p:spPr>
          <a:xfrm>
            <a:off x="4131129" y="2172226"/>
            <a:ext cx="6093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hlinkClick r:id="rId6"/>
              </a:rPr>
              <a:t>https://github.com/validatedid/kosovo-universal-verifier</a:t>
            </a:r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61A4B5-409B-9324-AA2E-B734ABE2B7CC}"/>
              </a:ext>
            </a:extLst>
          </p:cNvPr>
          <p:cNvSpPr txBox="1"/>
          <p:nvPr/>
        </p:nvSpPr>
        <p:spPr>
          <a:xfrm>
            <a:off x="4162314" y="4306781"/>
            <a:ext cx="6093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hlinkClick r:id="rId7"/>
              </a:rPr>
              <a:t>https://github.com/validatedid/kosovo-training-java</a:t>
            </a:r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52EDAD-DB3D-225D-A707-22166C509AB2}"/>
              </a:ext>
            </a:extLst>
          </p:cNvPr>
          <p:cNvSpPr txBox="1"/>
          <p:nvPr/>
        </p:nvSpPr>
        <p:spPr>
          <a:xfrm>
            <a:off x="4162314" y="5341963"/>
            <a:ext cx="6093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hlinkClick r:id="rId8"/>
              </a:rPr>
              <a:t>https://github.com/validatedid/kosovo-training-csharp</a:t>
            </a:r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21D590A-70A6-4D5B-1CDA-4BD22C64715D}"/>
              </a:ext>
            </a:extLst>
          </p:cNvPr>
          <p:cNvSpPr txBox="1"/>
          <p:nvPr/>
        </p:nvSpPr>
        <p:spPr>
          <a:xfrm>
            <a:off x="4220395" y="3177172"/>
            <a:ext cx="6093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hlinkClick r:id="rId6"/>
              </a:rPr>
              <a:t>https://github.com/validatedid/kosovo-universal-verifier</a:t>
            </a:r>
            <a:endParaRPr lang="es-ES"/>
          </a:p>
        </p:txBody>
      </p:sp>
      <p:pic>
        <p:nvPicPr>
          <p:cNvPr id="1026" name="Picture 2" descr="C Sharp Tutorial">
            <a:extLst>
              <a:ext uri="{FF2B5EF4-FFF2-40B4-BE49-F238E27FC236}">
                <a16:creationId xmlns:a16="http://schemas.microsoft.com/office/drawing/2014/main" id="{B207045C-5DC8-BF25-F291-7AE24A0A3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0077" y="5296888"/>
            <a:ext cx="476990" cy="47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074299"/>
      </p:ext>
    </p:extLst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" name="Marcador de posición de imagen 11" descr="Una caricatura de una persona&#10;&#10;Descripción generada automáticamente con confianza media">
            <a:extLst>
              <a:ext uri="{FF2B5EF4-FFF2-40B4-BE49-F238E27FC236}">
                <a16:creationId xmlns:a16="http://schemas.microsoft.com/office/drawing/2014/main" id="{FB5715DB-8C84-F00C-84F9-4023163AFD6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837" t="13686" r="872" b="25174"/>
          <a:stretch>
            <a:fillRect/>
          </a:stretch>
        </p:blipFill>
        <p:spPr>
          <a:xfrm>
            <a:off x="0" y="2898184"/>
            <a:ext cx="12192000" cy="3959816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718C1490-5D12-4642-CE14-458245D15290}"/>
              </a:ext>
            </a:extLst>
          </p:cNvPr>
          <p:cNvSpPr txBox="1"/>
          <p:nvPr/>
        </p:nvSpPr>
        <p:spPr>
          <a:xfrm>
            <a:off x="10569388" y="150877"/>
            <a:ext cx="1280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latin typeface="TT Norms Regular" panose="02000503030000020003" pitchFamily="2" charset="77"/>
              </a:rPr>
              <a:t>Always be yourself</a:t>
            </a:r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234AC9E4-D08B-F9DD-EF59-AFC8C834E2B5}"/>
              </a:ext>
            </a:extLst>
          </p:cNvPr>
          <p:cNvSpPr txBox="1"/>
          <p:nvPr/>
        </p:nvSpPr>
        <p:spPr>
          <a:xfrm>
            <a:off x="6096000" y="150877"/>
            <a:ext cx="933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TT Norms Regular" panose="02000503030000020003" pitchFamily="2" charset="77"/>
              </a:rPr>
              <a:t>MWC 2024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2394B9-6550-B91E-6CC3-84738F9B43BD}"/>
              </a:ext>
            </a:extLst>
          </p:cNvPr>
          <p:cNvCxnSpPr/>
          <p:nvPr/>
        </p:nvCxnSpPr>
        <p:spPr>
          <a:xfrm flipH="1">
            <a:off x="581511" y="5757719"/>
            <a:ext cx="0" cy="3714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4">
            <a:extLst>
              <a:ext uri="{FF2B5EF4-FFF2-40B4-BE49-F238E27FC236}">
                <a16:creationId xmlns:a16="http://schemas.microsoft.com/office/drawing/2014/main" id="{BB8C000C-C9DE-3DC8-EFE1-7098BDE87E1F}"/>
              </a:ext>
            </a:extLst>
          </p:cNvPr>
          <p:cNvSpPr txBox="1"/>
          <p:nvPr/>
        </p:nvSpPr>
        <p:spPr>
          <a:xfrm>
            <a:off x="1224589" y="1006449"/>
            <a:ext cx="5087312" cy="111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>
                <a:latin typeface="TT Norms Regular" panose="02000503030000020003" pitchFamily="2" charset="77"/>
                <a:cs typeface="Poppins SemiBold" panose="00000700000000000000" pitchFamily="50" charset="0"/>
              </a:rPr>
              <a:t>Thank you</a:t>
            </a:r>
          </a:p>
        </p:txBody>
      </p: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0827CD5C-813B-02C1-B6A9-1C53CBA8C8C4}"/>
              </a:ext>
            </a:extLst>
          </p:cNvPr>
          <p:cNvCxnSpPr/>
          <p:nvPr/>
        </p:nvCxnSpPr>
        <p:spPr>
          <a:xfrm>
            <a:off x="415472" y="1577174"/>
            <a:ext cx="727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99F3D68D-BCA0-F91C-CD07-CAA9B3813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43" y="114822"/>
            <a:ext cx="1109272" cy="3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1479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Tema de Office">
  <a:themeElements>
    <a:clrScheme name="every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44336"/>
      </a:accent1>
      <a:accent2>
        <a:srgbClr val="E91E63"/>
      </a:accent2>
      <a:accent3>
        <a:srgbClr val="9C27B0"/>
      </a:accent3>
      <a:accent4>
        <a:srgbClr val="673AB7"/>
      </a:accent4>
      <a:accent5>
        <a:srgbClr val="3F51B5"/>
      </a:accent5>
      <a:accent6>
        <a:srgbClr val="2196F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2.xml><?xml version="1.0" encoding="utf-8"?>
<a:theme xmlns:r="http://schemas.openxmlformats.org/officeDocument/2006/relationships" xmlns:a="http://schemas.openxmlformats.org/drawingml/2006/main" name="2_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4.xml><?xml version="1.0" encoding="utf-8"?>
<a:theme xmlns:r="http://schemas.openxmlformats.org/officeDocument/2006/relationships"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306715-3886-4a4b-8659-66f0f6ef02d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28BEB065F0D8B42B121E6BD9C58007C" ma:contentTypeVersion="17" ma:contentTypeDescription="Crear nuevo documento." ma:contentTypeScope="" ma:versionID="77bb7b10e2a239f15d831a3c1fa9997d">
  <xsd:schema xmlns:xsd="http://www.w3.org/2001/XMLSchema" xmlns:xs="http://www.w3.org/2001/XMLSchema" xmlns:p="http://schemas.microsoft.com/office/2006/metadata/properties" xmlns:ns2="d5306715-3886-4a4b-8659-66f0f6ef02da" xmlns:ns3="bf45861e-af89-4268-a751-93f07ba84fb4" targetNamespace="http://schemas.microsoft.com/office/2006/metadata/properties" ma:root="true" ma:fieldsID="5d97348f93dfe37e9cf775fac39c2492" ns2:_="" ns3:_="">
    <xsd:import namespace="d5306715-3886-4a4b-8659-66f0f6ef02da"/>
    <xsd:import namespace="bf45861e-af89-4268-a751-93f07ba84f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306715-3886-4a4b-8659-66f0f6ef02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6286114f-2d9e-4bdf-b10a-d0e430e6d2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45861e-af89-4268-a751-93f07ba84fb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14BCAA-8BD8-473D-BA02-35BD00D5AC6C}">
  <ds:schemaRefs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bf45861e-af89-4268-a751-93f07ba84fb4"/>
    <ds:schemaRef ds:uri="d5306715-3886-4a4b-8659-66f0f6ef02d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40A9D22-2F50-40F5-B6B4-DB7FDD48B6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7B7F3E-49F7-42F6-9E32-D5EA6EED02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306715-3886-4a4b-8659-66f0f6ef02da"/>
    <ds:schemaRef ds:uri="bf45861e-af89-4268-a751-93f07ba84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Panorámica</PresentationFormat>
  <Paragraphs>146</Paragraphs>
  <Slides>31</Slides>
  <Notes>19</Notes>
  <TotalTime>361</TotalTime>
  <HiddenSlides>2</HiddenSlides>
  <MMClips>0</MMClips>
  <ScaleCrop>0</ScaleCrop>
  <HeadingPairs>
    <vt:vector baseType="variant" size="6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baseType="lpstr" size="51">
      <vt:lpstr>Arial</vt:lpstr>
      <vt:lpstr>Calibri</vt:lpstr>
      <vt:lpstr>TT Norms Regular</vt:lpstr>
      <vt:lpstr>Bebas Neue</vt:lpstr>
      <vt:lpstr>Montserrat Light</vt:lpstr>
      <vt:lpstr>Open Sans SemiBold</vt:lpstr>
      <vt:lpstr>Open Sans</vt:lpstr>
      <vt:lpstr>Montserrat</vt:lpstr>
      <vt:lpstr>Poppins</vt:lpstr>
      <vt:lpstr>TT Norms Light Italic</vt:lpstr>
      <vt:lpstr>Wingdings</vt:lpstr>
      <vt:lpstr>TT Norms Light</vt:lpstr>
      <vt:lpstr>Courier New</vt:lpstr>
      <vt:lpstr>TT Norms Bold</vt:lpstr>
      <vt:lpstr>Aptos Display</vt:lpstr>
      <vt:lpstr>Aptos</vt:lpstr>
      <vt:lpstr>Poppins SemiBold</vt:lpstr>
      <vt:lpstr>Playfair Display Bold</vt:lpstr>
      <vt:lpstr>Times New Roman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Presentación de PowerPoint</dc:title>
  <dc:creator>Microsoft Office User</dc:creator>
  <cp:lastModifiedBy>Mauro Lucchini</cp:lastModifiedBy>
  <cp:revision>24</cp:revision>
  <cp:lastPrinted>2022-07-16T11:41:46.000</cp:lastPrinted>
  <dcterms:created xsi:type="dcterms:W3CDTF">2021-06-10T07:30:59Z</dcterms:created>
  <dcterms:modified xsi:type="dcterms:W3CDTF">2024-05-31T10:37:58Z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0x010100528BEB065F0D8B42B121E6BD9C58007C</vt:lpwstr>
  </property>
  <property fmtid="{D5CDD505-2E9C-101B-9397-08002B2CF9AE}" pid="3" name="MediaServiceImageTags">
    <vt:lpwstr/>
  </property>
</Properties>
</file>